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notesMasterIdLst>
    <p:notesMasterId r:id="rId20"/>
  </p:notesMasterIdLst>
  <p:sldIdLst>
    <p:sldId id="256" r:id="rId2"/>
    <p:sldId id="257" r:id="rId3"/>
    <p:sldId id="27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58" r:id="rId18"/>
    <p:sldId id="272" r:id="rId19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92"/>
    <p:restoredTop sz="94658"/>
  </p:normalViewPr>
  <p:slideViewPr>
    <p:cSldViewPr>
      <p:cViewPr varScale="1">
        <p:scale>
          <a:sx n="119" d="100"/>
          <a:sy n="119" d="100"/>
        </p:scale>
        <p:origin x="232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59201-EE0E-764F-97C6-0555A94AC7CF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37E7AB-336A-8B4C-B3BA-7B08FB1B862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683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7E7AB-336A-8B4C-B3BA-7B08FB1B862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2655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7E7AB-336A-8B4C-B3BA-7B08FB1B8628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1073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035C6-5567-304A-800F-373F0C17E261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4271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16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825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105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647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0047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309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273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8644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65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084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3544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8016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9414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5409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1452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766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6684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33932" y="1029411"/>
            <a:ext cx="410591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EBEBE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 u="sng">
                <a:solidFill>
                  <a:srgbClr val="8F8F8F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66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1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567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umpy.org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imacode" TargetMode="External"/><Relationship Id="rId2" Type="http://schemas.openxmlformats.org/officeDocument/2006/relationships/hyperlink" Target="http://aima.cs.berkeley.edu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pycharm/download/?section=windows" TargetMode="External"/><Relationship Id="rId2" Type="http://schemas.openxmlformats.org/officeDocument/2006/relationships/hyperlink" Target="https://www.anaconda.com/download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etbrains.com/pycharm/download/#section%3Dmac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xinyminutes.com/docs/python3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69"/>
              <a:ext cx="12192000" cy="6856730"/>
            </a:xfrm>
            <a:custGeom>
              <a:avLst/>
              <a:gdLst/>
              <a:ahLst/>
              <a:cxnLst/>
              <a:rect l="l" t="t" r="r" b="b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154"/>
                  </a:lnTo>
                  <a:lnTo>
                    <a:pt x="11709273" y="470154"/>
                  </a:lnTo>
                  <a:lnTo>
                    <a:pt x="11709273" y="6380480"/>
                  </a:lnTo>
                  <a:lnTo>
                    <a:pt x="476377" y="6380480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98252" y="0"/>
              <a:ext cx="760488" cy="12039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437876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233932" y="3053282"/>
            <a:ext cx="8062468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spc="-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CS311H</a:t>
            </a:r>
            <a:br>
              <a:rPr lang="en-US" sz="5400" spc="-3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5400" spc="-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lang="en-US" sz="5400" spc="-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Intelligence</a:t>
            </a:r>
            <a:r>
              <a:rPr sz="5400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5400" spc="-38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5400" spc="-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r>
              <a:rPr sz="5400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spc="-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1 - </a:t>
            </a:r>
            <a:r>
              <a:rPr sz="5400" spc="-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 descr="QR 代码&#10;&#10;AI 生成的内容可能不正确。">
            <a:extLst>
              <a:ext uri="{FF2B5EF4-FFF2-40B4-BE49-F238E27FC236}">
                <a16:creationId xmlns:a16="http://schemas.microsoft.com/office/drawing/2014/main" id="{A2651867-C2EC-6003-259E-2D20C035C8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761999"/>
            <a:ext cx="3576437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dirty="0"/>
              <a:t>TA</a:t>
            </a:r>
            <a:endParaRPr spc="-35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531D75-424D-0294-CE8F-02D4B5C7CEC3}"/>
              </a:ext>
            </a:extLst>
          </p:cNvPr>
          <p:cNvSpPr txBox="1"/>
          <p:nvPr/>
        </p:nvSpPr>
        <p:spPr>
          <a:xfrm>
            <a:off x="1233932" y="2819400"/>
            <a:ext cx="564609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 err="1"/>
              <a:t>Hengle</a:t>
            </a:r>
            <a:r>
              <a:rPr kumimoji="1" lang="en-US" altLang="zh-CN" sz="2000" dirty="0"/>
              <a:t> JIANG </a:t>
            </a:r>
            <a:r>
              <a:rPr kumimoji="1" lang="zh-CN" altLang="en-US" sz="2000" dirty="0"/>
              <a:t>（江恒乐）</a:t>
            </a:r>
            <a:endParaRPr kumimoji="1" lang="en-US" altLang="zh-CN" sz="2000" dirty="0"/>
          </a:p>
          <a:p>
            <a:endParaRPr kumimoji="1" lang="en-US" altLang="zh-CN" sz="2000" dirty="0"/>
          </a:p>
          <a:p>
            <a:r>
              <a:rPr lang="en-US" altLang="zh-CN" sz="2000" dirty="0"/>
              <a:t>PhD student in Computer Science of 2025</a:t>
            </a:r>
            <a:endParaRPr lang="en-US" altLang="zh-CN" sz="2000" dirty="0">
              <a:latin typeface="微软雅黑" panose="020B0503020204020204" pitchFamily="34" charset="-122"/>
            </a:endParaRPr>
          </a:p>
          <a:p>
            <a:endParaRPr kumimoji="1" lang="en-US" altLang="zh-CN" sz="2000" dirty="0"/>
          </a:p>
          <a:p>
            <a:r>
              <a:rPr kumimoji="1" lang="en-US" altLang="zh-CN" sz="2000" dirty="0"/>
              <a:t>Contact</a:t>
            </a:r>
            <a:r>
              <a:rPr kumimoji="1" lang="zh-CN" altLang="en-US" sz="2000" dirty="0"/>
              <a:t>：</a:t>
            </a:r>
            <a:r>
              <a:rPr kumimoji="1" lang="en-US" altLang="zh-CN" sz="2000" dirty="0"/>
              <a:t>jianghl2025@mail.sustech.edu.cn</a:t>
            </a:r>
            <a:endParaRPr kumimoji="1" lang="zh-CN" alt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43C8B-99A9-AFF2-D36D-195A6A6E4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8090A2F1-9F3A-2576-0DC8-DEF3C975B3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pc="-265" dirty="0"/>
              <a:t>Outline</a:t>
            </a:r>
            <a:endParaRPr spc="-350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7D4A7CC-A7E4-772E-47D8-DF32A26A4F3C}"/>
              </a:ext>
            </a:extLst>
          </p:cNvPr>
          <p:cNvSpPr txBox="1"/>
          <p:nvPr/>
        </p:nvSpPr>
        <p:spPr>
          <a:xfrm>
            <a:off x="1233932" y="2819400"/>
            <a:ext cx="29362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60" dirty="0">
                <a:solidFill>
                  <a:srgbClr val="EE52A4"/>
                </a:solidFill>
                <a:latin typeface="Verdana"/>
                <a:cs typeface="Verdana"/>
              </a:rPr>
              <a:t>PROJECT</a:t>
            </a:r>
            <a:r>
              <a:rPr sz="2000" spc="-114" dirty="0">
                <a:solidFill>
                  <a:srgbClr val="EE52A4"/>
                </a:solidFill>
                <a:latin typeface="Verdana"/>
                <a:cs typeface="Verdana"/>
              </a:rPr>
              <a:t> </a:t>
            </a:r>
            <a:r>
              <a:rPr sz="2000" spc="-80" dirty="0">
                <a:solidFill>
                  <a:srgbClr val="EE52A4"/>
                </a:solidFill>
                <a:latin typeface="Verdana"/>
                <a:cs typeface="Verdana"/>
              </a:rPr>
              <a:t>INFORMATION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EB5CD6A-FA28-6880-37DD-0504E3603AFD}"/>
              </a:ext>
            </a:extLst>
          </p:cNvPr>
          <p:cNvSpPr txBox="1"/>
          <p:nvPr/>
        </p:nvSpPr>
        <p:spPr>
          <a:xfrm>
            <a:off x="1233932" y="3683761"/>
            <a:ext cx="29279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5" dirty="0">
                <a:solidFill>
                  <a:srgbClr val="EE52A4"/>
                </a:solidFill>
                <a:latin typeface="Verdana"/>
                <a:cs typeface="Verdana"/>
              </a:rPr>
              <a:t>COURSE</a:t>
            </a:r>
            <a:r>
              <a:rPr sz="2000" spc="-130" dirty="0">
                <a:solidFill>
                  <a:srgbClr val="EE52A4"/>
                </a:solidFill>
                <a:latin typeface="Verdana"/>
                <a:cs typeface="Verdana"/>
              </a:rPr>
              <a:t> </a:t>
            </a:r>
            <a:r>
              <a:rPr sz="2000" spc="-155" dirty="0">
                <a:solidFill>
                  <a:srgbClr val="EE52A4"/>
                </a:solidFill>
                <a:latin typeface="Verdana"/>
                <a:cs typeface="Verdana"/>
              </a:rPr>
              <a:t>REQUIREMENTS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55985306-59AE-A7BC-8D4B-B70E52B46F4B}"/>
              </a:ext>
            </a:extLst>
          </p:cNvPr>
          <p:cNvSpPr txBox="1"/>
          <p:nvPr/>
        </p:nvSpPr>
        <p:spPr>
          <a:xfrm>
            <a:off x="1233932" y="4546041"/>
            <a:ext cx="30054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5" dirty="0">
                <a:solidFill>
                  <a:srgbClr val="EE52A4"/>
                </a:solidFill>
                <a:latin typeface="Verdana"/>
                <a:cs typeface="Verdana"/>
              </a:rPr>
              <a:t>COURSE</a:t>
            </a:r>
            <a:r>
              <a:rPr sz="2000" spc="-135" dirty="0">
                <a:solidFill>
                  <a:srgbClr val="EE52A4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EE52A4"/>
                </a:solidFill>
                <a:latin typeface="Verdana"/>
                <a:cs typeface="Verdana"/>
              </a:rPr>
              <a:t>ARRANGEMENT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61556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Project</a:t>
            </a:r>
            <a:r>
              <a:rPr spc="-204" dirty="0"/>
              <a:t> </a:t>
            </a:r>
            <a:r>
              <a:rPr spc="-125" dirty="0"/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4954" y="2692908"/>
            <a:ext cx="6442075" cy="236347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800" spc="-170" dirty="0">
                <a:solidFill>
                  <a:srgbClr val="0431FF"/>
                </a:solidFill>
                <a:latin typeface="Verdana"/>
                <a:cs typeface="Verdana"/>
              </a:rPr>
              <a:t>3</a:t>
            </a:r>
            <a:r>
              <a:rPr sz="1800" spc="-105" dirty="0">
                <a:solidFill>
                  <a:srgbClr val="0431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0431FF"/>
                </a:solidFill>
                <a:latin typeface="Verdana"/>
                <a:cs typeface="Verdana"/>
              </a:rPr>
              <a:t>Projects,</a:t>
            </a:r>
            <a:r>
              <a:rPr sz="1800" spc="-95" dirty="0">
                <a:solidFill>
                  <a:srgbClr val="0431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roughly: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Project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45" dirty="0">
                <a:solidFill>
                  <a:srgbClr val="404040"/>
                </a:solidFill>
                <a:latin typeface="Verdana"/>
                <a:cs typeface="Verdana"/>
              </a:rPr>
              <a:t>1: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Information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Exposure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Maximization</a:t>
            </a:r>
            <a:endParaRPr sz="18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  <a:tabLst>
                <a:tab pos="75628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600" spc="-75" dirty="0">
                <a:solidFill>
                  <a:srgbClr val="404040"/>
                </a:solidFill>
                <a:latin typeface="Verdana"/>
                <a:cs typeface="Verdana"/>
              </a:rPr>
              <a:t>Heuristic</a:t>
            </a:r>
            <a:r>
              <a:rPr sz="16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Verdana"/>
                <a:cs typeface="Verdana"/>
              </a:rPr>
              <a:t>algorithm</a:t>
            </a:r>
            <a:endParaRPr sz="16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  <a:tabLst>
                <a:tab pos="75628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600" spc="-65" dirty="0">
                <a:solidFill>
                  <a:srgbClr val="404040"/>
                </a:solidFill>
                <a:latin typeface="Verdana"/>
                <a:cs typeface="Verdana"/>
              </a:rPr>
              <a:t>Evolutionary</a:t>
            </a:r>
            <a:r>
              <a:rPr sz="16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Verdana"/>
                <a:cs typeface="Verdana"/>
              </a:rPr>
              <a:t>algorithm</a:t>
            </a:r>
            <a:r>
              <a:rPr sz="16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114" dirty="0">
                <a:solidFill>
                  <a:srgbClr val="404040"/>
                </a:solidFill>
                <a:latin typeface="Verdana"/>
                <a:cs typeface="Verdana"/>
              </a:rPr>
              <a:t>(or</a:t>
            </a:r>
            <a:r>
              <a:rPr sz="16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404040"/>
                </a:solidFill>
                <a:latin typeface="Verdana"/>
                <a:cs typeface="Verdana"/>
              </a:rPr>
              <a:t>Simulated</a:t>
            </a:r>
            <a:r>
              <a:rPr sz="16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Verdana"/>
                <a:cs typeface="Verdana"/>
              </a:rPr>
              <a:t>Annealing</a:t>
            </a:r>
            <a:r>
              <a:rPr sz="16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Verdana"/>
                <a:cs typeface="Verdana"/>
              </a:rPr>
              <a:t>algorithm)</a:t>
            </a:r>
            <a:endParaRPr sz="16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Project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45" dirty="0">
                <a:solidFill>
                  <a:srgbClr val="404040"/>
                </a:solidFill>
                <a:latin typeface="Verdana"/>
                <a:cs typeface="Verdana"/>
              </a:rPr>
              <a:t>2: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Image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Classification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Retrieval</a:t>
            </a:r>
            <a:endParaRPr sz="18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Project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45" dirty="0">
                <a:solidFill>
                  <a:srgbClr val="404040"/>
                </a:solidFill>
                <a:latin typeface="Verdana"/>
                <a:cs typeface="Verdana"/>
              </a:rPr>
              <a:t>3: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pc="-25" dirty="0">
                <a:solidFill>
                  <a:srgbClr val="404040"/>
                </a:solidFill>
                <a:latin typeface="Verdana"/>
                <a:cs typeface="Verdana"/>
              </a:rPr>
              <a:t>Recommendation System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943088" y="2356104"/>
            <a:ext cx="3949065" cy="3202305"/>
            <a:chOff x="7943088" y="2356104"/>
            <a:chExt cx="3949065" cy="3202305"/>
          </a:xfrm>
        </p:grpSpPr>
        <p:sp>
          <p:nvSpPr>
            <p:cNvPr id="5" name="object 5"/>
            <p:cNvSpPr/>
            <p:nvPr/>
          </p:nvSpPr>
          <p:spPr>
            <a:xfrm>
              <a:off x="7957566" y="2370582"/>
              <a:ext cx="3919854" cy="3173095"/>
            </a:xfrm>
            <a:custGeom>
              <a:avLst/>
              <a:gdLst/>
              <a:ahLst/>
              <a:cxnLst/>
              <a:rect l="l" t="t" r="r" b="b"/>
              <a:pathLst>
                <a:path w="3919854" h="3173095">
                  <a:moveTo>
                    <a:pt x="3919728" y="0"/>
                  </a:moveTo>
                  <a:lnTo>
                    <a:pt x="0" y="0"/>
                  </a:lnTo>
                  <a:lnTo>
                    <a:pt x="0" y="3172968"/>
                  </a:lnTo>
                  <a:lnTo>
                    <a:pt x="3919728" y="3172968"/>
                  </a:lnTo>
                  <a:lnTo>
                    <a:pt x="3919728" y="0"/>
                  </a:lnTo>
                  <a:close/>
                </a:path>
              </a:pathLst>
            </a:custGeom>
            <a:solidFill>
              <a:srgbClr val="B31166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57566" y="2370582"/>
              <a:ext cx="3919854" cy="3173095"/>
            </a:xfrm>
            <a:custGeom>
              <a:avLst/>
              <a:gdLst/>
              <a:ahLst/>
              <a:cxnLst/>
              <a:rect l="l" t="t" r="r" b="b"/>
              <a:pathLst>
                <a:path w="3919854" h="3173095">
                  <a:moveTo>
                    <a:pt x="0" y="3172968"/>
                  </a:moveTo>
                  <a:lnTo>
                    <a:pt x="3919728" y="3172968"/>
                  </a:lnTo>
                  <a:lnTo>
                    <a:pt x="3919728" y="0"/>
                  </a:lnTo>
                  <a:lnTo>
                    <a:pt x="0" y="0"/>
                  </a:lnTo>
                  <a:lnTo>
                    <a:pt x="0" y="3172968"/>
                  </a:lnTo>
                  <a:close/>
                </a:path>
              </a:pathLst>
            </a:custGeom>
            <a:ln w="28956">
              <a:solidFill>
                <a:srgbClr val="8309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8620" y="2692908"/>
              <a:ext cx="3863339" cy="2026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FFFFF"/>
                </a:solidFill>
              </a:rPr>
              <a:t>Course</a:t>
            </a:r>
            <a:r>
              <a:rPr spc="-270" dirty="0">
                <a:solidFill>
                  <a:srgbClr val="FFFFFF"/>
                </a:solidFill>
              </a:rPr>
              <a:t> </a:t>
            </a:r>
            <a:r>
              <a:rPr spc="-100" dirty="0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3" name="object 3"/>
          <p:cNvSpPr/>
          <p:nvPr/>
        </p:nvSpPr>
        <p:spPr>
          <a:xfrm>
            <a:off x="1589278" y="5607303"/>
            <a:ext cx="1844039" cy="273050"/>
          </a:xfrm>
          <a:custGeom>
            <a:avLst/>
            <a:gdLst/>
            <a:ahLst/>
            <a:cxnLst/>
            <a:rect l="l" t="t" r="r" b="b"/>
            <a:pathLst>
              <a:path w="1844039" h="273050">
                <a:moveTo>
                  <a:pt x="1844040" y="0"/>
                </a:moveTo>
                <a:lnTo>
                  <a:pt x="1173480" y="0"/>
                </a:lnTo>
                <a:lnTo>
                  <a:pt x="1114044" y="0"/>
                </a:lnTo>
                <a:lnTo>
                  <a:pt x="0" y="0"/>
                </a:lnTo>
                <a:lnTo>
                  <a:pt x="0" y="272796"/>
                </a:lnTo>
                <a:lnTo>
                  <a:pt x="1114044" y="272796"/>
                </a:lnTo>
                <a:lnTo>
                  <a:pt x="1173480" y="272796"/>
                </a:lnTo>
                <a:lnTo>
                  <a:pt x="1844040" y="272796"/>
                </a:lnTo>
                <a:lnTo>
                  <a:pt x="18440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33932" y="2605278"/>
            <a:ext cx="8668385" cy="2790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Students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should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have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basic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independent</a:t>
            </a:r>
            <a:r>
              <a:rPr sz="18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programming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skills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80"/>
              </a:spcBef>
            </a:pPr>
            <a:endParaRPr sz="1800">
              <a:latin typeface="Verdana"/>
              <a:cs typeface="Verdana"/>
            </a:endParaRPr>
          </a:p>
          <a:p>
            <a:pPr marL="355600" marR="5080" indent="-342900">
              <a:lnSpc>
                <a:spcPts val="1939"/>
              </a:lnSpc>
              <a:tabLst>
                <a:tab pos="354965" algn="l"/>
                <a:tab pos="1424940" algn="l"/>
                <a:tab pos="22726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Students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should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	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think</a:t>
            </a:r>
            <a:r>
              <a:rPr sz="1800" spc="2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deeply</a:t>
            </a:r>
            <a:r>
              <a:rPr sz="1800" spc="2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about</a:t>
            </a:r>
            <a:r>
              <a:rPr sz="1800" spc="2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algorithms</a:t>
            </a:r>
            <a:r>
              <a:rPr sz="1800" spc="2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2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have</a:t>
            </a:r>
            <a:r>
              <a:rPr sz="1800" spc="2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2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ability</a:t>
            </a:r>
            <a:r>
              <a:rPr sz="1800" spc="2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to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apply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algorithms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improve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them.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All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project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reports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must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written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404040"/>
                </a:solidFill>
                <a:latin typeface="Verdana"/>
                <a:cs typeface="Verdana"/>
              </a:rPr>
              <a:t>according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report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template.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60" dirty="0">
                <a:solidFill>
                  <a:srgbClr val="B31166"/>
                </a:solidFill>
                <a:latin typeface="Verdana"/>
                <a:cs typeface="Verdana"/>
              </a:rPr>
              <a:t>Students</a:t>
            </a:r>
            <a:r>
              <a:rPr sz="1800" spc="70" dirty="0">
                <a:solidFill>
                  <a:srgbClr val="B31166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B31166"/>
                </a:solidFill>
                <a:latin typeface="Verdana"/>
                <a:cs typeface="Verdana"/>
              </a:rPr>
              <a:t>should</a:t>
            </a:r>
            <a:r>
              <a:rPr sz="1800" spc="80" dirty="0">
                <a:solidFill>
                  <a:srgbClr val="B31166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B31166"/>
                </a:solidFill>
                <a:latin typeface="Verdana"/>
                <a:cs typeface="Verdana"/>
              </a:rPr>
              <a:t>not</a:t>
            </a:r>
            <a:r>
              <a:rPr sz="1800" spc="55" dirty="0">
                <a:solidFill>
                  <a:srgbClr val="B31166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B31166"/>
                </a:solidFill>
                <a:latin typeface="Verdana"/>
                <a:cs typeface="Verdana"/>
              </a:rPr>
              <a:t>copy</a:t>
            </a:r>
            <a:r>
              <a:rPr sz="1800" spc="75" dirty="0">
                <a:solidFill>
                  <a:srgbClr val="B31166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B31166"/>
                </a:solidFill>
                <a:latin typeface="Verdana"/>
                <a:cs typeface="Verdana"/>
              </a:rPr>
              <a:t>other</a:t>
            </a:r>
            <a:r>
              <a:rPr sz="1800" spc="75" dirty="0">
                <a:solidFill>
                  <a:srgbClr val="B31166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B31166"/>
                </a:solidFill>
                <a:latin typeface="Verdana"/>
                <a:cs typeface="Verdana"/>
              </a:rPr>
              <a:t>students’</a:t>
            </a:r>
            <a:r>
              <a:rPr sz="1800" spc="80" dirty="0">
                <a:solidFill>
                  <a:srgbClr val="B31166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B31166"/>
                </a:solidFill>
                <a:latin typeface="Verdana"/>
                <a:cs typeface="Verdana"/>
              </a:rPr>
              <a:t>or</a:t>
            </a:r>
            <a:r>
              <a:rPr sz="1800" spc="70" dirty="0">
                <a:solidFill>
                  <a:srgbClr val="B31166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B31166"/>
                </a:solidFill>
                <a:latin typeface="Verdana"/>
                <a:cs typeface="Verdana"/>
              </a:rPr>
              <a:t>senior</a:t>
            </a:r>
            <a:r>
              <a:rPr sz="1800" spc="70" dirty="0">
                <a:solidFill>
                  <a:srgbClr val="B31166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B31166"/>
                </a:solidFill>
                <a:latin typeface="Verdana"/>
                <a:cs typeface="Verdana"/>
              </a:rPr>
              <a:t>students’</a:t>
            </a:r>
            <a:r>
              <a:rPr sz="1800" spc="75" dirty="0">
                <a:solidFill>
                  <a:srgbClr val="B31166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B31166"/>
                </a:solidFill>
                <a:latin typeface="Verdana"/>
                <a:cs typeface="Verdana"/>
              </a:rPr>
              <a:t>codes</a:t>
            </a:r>
            <a:r>
              <a:rPr sz="1800" spc="70" dirty="0">
                <a:solidFill>
                  <a:srgbClr val="B31166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B31166"/>
                </a:solidFill>
                <a:latin typeface="Verdana"/>
                <a:cs typeface="Verdana"/>
              </a:rPr>
              <a:t>and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6832" y="5342890"/>
            <a:ext cx="7841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B31166"/>
                </a:solidFill>
                <a:latin typeface="Verdana"/>
                <a:cs typeface="Verdana"/>
              </a:rPr>
              <a:t>reports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  <a:r>
              <a:rPr sz="1800" spc="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Once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found,</a:t>
            </a:r>
            <a:r>
              <a:rPr sz="1800" spc="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800" spc="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dealt</a:t>
            </a:r>
            <a:r>
              <a:rPr sz="1800" spc="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sz="1800" spc="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strict</a:t>
            </a:r>
            <a:r>
              <a:rPr sz="1800" spc="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Verdana"/>
                <a:cs typeface="Verdana"/>
              </a:rPr>
              <a:t>accordance</a:t>
            </a:r>
            <a:r>
              <a:rPr sz="1800" spc="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21697" y="5360415"/>
            <a:ext cx="431800" cy="273050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120"/>
              </a:lnSpc>
            </a:pP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6832" y="5589523"/>
            <a:ext cx="67068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Plagiarism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policy.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Please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think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twice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when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plan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share.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33932" y="1030935"/>
            <a:ext cx="37465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35" dirty="0">
                <a:latin typeface="Tahoma"/>
                <a:cs typeface="Tahoma"/>
              </a:rPr>
              <a:t>Plagiarism</a:t>
            </a:r>
            <a:r>
              <a:rPr b="1" spc="-80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3932" y="2632709"/>
            <a:ext cx="9510268" cy="3039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1009">
              <a:lnSpc>
                <a:spcPct val="100000"/>
              </a:lnSpc>
              <a:spcBef>
                <a:spcPts val="100"/>
              </a:spcBef>
            </a:pP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From 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Spring</a:t>
            </a:r>
            <a:r>
              <a:rPr sz="1800" spc="-1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6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2024,</a:t>
            </a:r>
            <a:r>
              <a:rPr sz="1800" spc="-8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7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plagiarism</a:t>
            </a:r>
            <a:r>
              <a:rPr sz="1800" spc="-13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policy</a:t>
            </a:r>
            <a:r>
              <a:rPr sz="1800" spc="-1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applied</a:t>
            </a:r>
            <a:r>
              <a:rPr sz="1800" spc="-1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by</a:t>
            </a:r>
            <a:r>
              <a:rPr sz="1800" spc="-10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7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Computer</a:t>
            </a:r>
            <a:r>
              <a:rPr sz="1800" spc="-6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Science </a:t>
            </a:r>
            <a:r>
              <a:rPr sz="1800" spc="6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and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Engineering</a:t>
            </a:r>
            <a:r>
              <a:rPr sz="1800" spc="-114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department</a:t>
            </a:r>
            <a:r>
              <a:rPr sz="1800" spc="-7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is</a:t>
            </a:r>
            <a:r>
              <a:rPr sz="1800" spc="-14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following:</a:t>
            </a:r>
            <a:endParaRPr sz="1800" dirty="0">
              <a:latin typeface="Arial Hebrew" pitchFamily="2" charset="-79"/>
              <a:cs typeface="Arial Hebrew" pitchFamily="2" charset="-79"/>
            </a:endParaRPr>
          </a:p>
          <a:p>
            <a:pPr marL="355600" marR="74930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lang="zh-CN" altLang="en-US" sz="1450" spc="65" dirty="0">
                <a:solidFill>
                  <a:srgbClr val="B31166"/>
                </a:solidFill>
                <a:latin typeface="Arial Hebrew" pitchFamily="2" charset="-79"/>
                <a:cs typeface="Arial Hebrew" pitchFamily="2" charset="-79"/>
              </a:rPr>
              <a:t>▶</a:t>
            </a:r>
            <a:r>
              <a:rPr lang="zh-CN" altLang="en-US" sz="1450" dirty="0">
                <a:solidFill>
                  <a:srgbClr val="B31166"/>
                </a:solidFill>
                <a:latin typeface="Arial Hebrew" pitchFamily="2" charset="-79"/>
                <a:cs typeface="Arial Hebrew" pitchFamily="2" charset="-79"/>
              </a:rPr>
              <a:t>	</a:t>
            </a:r>
            <a:r>
              <a:rPr sz="1800" spc="-21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If</a:t>
            </a:r>
            <a:r>
              <a:rPr sz="1800" spc="-14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plagiarism</a:t>
            </a:r>
            <a:r>
              <a:rPr sz="1800" spc="-16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is</a:t>
            </a:r>
            <a:r>
              <a:rPr sz="1800" spc="-14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found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in</a:t>
            </a:r>
            <a:r>
              <a:rPr sz="1800" spc="-13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a</a:t>
            </a:r>
            <a:r>
              <a:rPr sz="1800" spc="-1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student’s</a:t>
            </a:r>
            <a:r>
              <a:rPr sz="1800" spc="-5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assignments,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course</a:t>
            </a:r>
            <a:r>
              <a:rPr sz="1800" spc="-1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projects,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or</a:t>
            </a:r>
            <a:r>
              <a:rPr sz="1800" spc="-1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exams,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corresponding</a:t>
            </a:r>
            <a:r>
              <a:rPr sz="1800" spc="-10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assignment,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course</a:t>
            </a:r>
            <a:r>
              <a:rPr sz="1800" spc="-10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project,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or</a:t>
            </a:r>
            <a:r>
              <a:rPr sz="1800" spc="-1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exam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will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receive</a:t>
            </a:r>
            <a:r>
              <a:rPr sz="1800" spc="-13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a </a:t>
            </a:r>
            <a:r>
              <a:rPr sz="1800" spc="-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score</a:t>
            </a:r>
            <a:r>
              <a:rPr sz="1800" spc="-13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of</a:t>
            </a:r>
            <a:r>
              <a:rPr sz="1800" spc="-1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4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0;</a:t>
            </a:r>
            <a:r>
              <a:rPr sz="1800" spc="-114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1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If</a:t>
            </a:r>
            <a:r>
              <a:rPr sz="1800" spc="-1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same</a:t>
            </a:r>
            <a:r>
              <a:rPr sz="1800" spc="-1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student</a:t>
            </a:r>
            <a:r>
              <a:rPr sz="1800" spc="-6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is</a:t>
            </a:r>
            <a:r>
              <a:rPr sz="1800" spc="-14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found</a:t>
            </a:r>
            <a:r>
              <a:rPr sz="1800" spc="-10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to</a:t>
            </a:r>
            <a:r>
              <a:rPr sz="1800" spc="-10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have</a:t>
            </a:r>
            <a:r>
              <a:rPr sz="1800" spc="-1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plagiarized</a:t>
            </a:r>
            <a:r>
              <a:rPr sz="1800" spc="-14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7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for</a:t>
            </a:r>
            <a:r>
              <a:rPr sz="1800" spc="-1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second </a:t>
            </a:r>
            <a:r>
              <a:rPr sz="1800" spc="-5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time</a:t>
            </a:r>
            <a:r>
              <a:rPr sz="1800" spc="-13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in</a:t>
            </a:r>
            <a:r>
              <a:rPr sz="1800" spc="-13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same</a:t>
            </a:r>
            <a:r>
              <a:rPr sz="1800" spc="-10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course,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grade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for</a:t>
            </a:r>
            <a:r>
              <a:rPr sz="1800" spc="-1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that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course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0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will</a:t>
            </a:r>
            <a:r>
              <a:rPr sz="1800" spc="-114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be</a:t>
            </a:r>
            <a:r>
              <a:rPr sz="1800" spc="-1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7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0</a:t>
            </a:r>
            <a:r>
              <a:rPr sz="1800" spc="-114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points.</a:t>
            </a:r>
            <a:endParaRPr sz="1800" dirty="0">
              <a:latin typeface="Arial Hebrew" pitchFamily="2" charset="-79"/>
              <a:cs typeface="Arial Hebrew" pitchFamily="2" charset="-79"/>
            </a:endParaRPr>
          </a:p>
          <a:p>
            <a:pPr marL="355600" marR="5080" indent="-342900">
              <a:lnSpc>
                <a:spcPct val="100099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Arial Hebrew" pitchFamily="2" charset="-79"/>
                <a:cs typeface="Arial Hebrew" pitchFamily="2" charset="-79"/>
              </a:rPr>
              <a:t>▶</a:t>
            </a:r>
            <a:r>
              <a:rPr sz="1450" dirty="0">
                <a:solidFill>
                  <a:srgbClr val="B31166"/>
                </a:solidFill>
                <a:latin typeface="Arial Hebrew" pitchFamily="2" charset="-79"/>
                <a:cs typeface="Arial Hebrew" pitchFamily="2" charset="-79"/>
              </a:rPr>
              <a:t>	</a:t>
            </a:r>
            <a:r>
              <a:rPr sz="1800" spc="-3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*</a:t>
            </a:r>
            <a:r>
              <a:rPr sz="1800" spc="-1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lang="en-US" sz="1800" spc="-1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If</a:t>
            </a:r>
            <a:r>
              <a:rPr sz="1800" spc="-14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a</a:t>
            </a:r>
            <a:r>
              <a:rPr sz="1800" spc="-1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student</a:t>
            </a:r>
            <a:r>
              <a:rPr sz="1800" spc="-8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does</a:t>
            </a:r>
            <a:r>
              <a:rPr sz="1800" spc="-1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not</a:t>
            </a:r>
            <a:r>
              <a:rPr sz="1800" spc="-10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sign</a:t>
            </a:r>
            <a:r>
              <a:rPr sz="1800" spc="-1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Declaration</a:t>
            </a:r>
            <a:r>
              <a:rPr sz="1800" spc="-14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Form</a:t>
            </a:r>
            <a:r>
              <a:rPr sz="1800" spc="-1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or</a:t>
            </a:r>
            <a:r>
              <a:rPr sz="1800" spc="-13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cheats</a:t>
            </a:r>
            <a:r>
              <a:rPr sz="1800" spc="-8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in</a:t>
            </a:r>
            <a:r>
              <a:rPr sz="1800" spc="-14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1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course,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including</a:t>
            </a:r>
            <a:r>
              <a:rPr sz="1800" spc="-14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regular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assignments, 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midterms,</a:t>
            </a:r>
            <a:r>
              <a:rPr sz="1800" spc="-114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final</a:t>
            </a:r>
            <a:r>
              <a:rPr sz="1800" spc="-1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exams,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etc.,</a:t>
            </a:r>
            <a:r>
              <a:rPr sz="1800" spc="-6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in</a:t>
            </a:r>
            <a:r>
              <a:rPr sz="1800" spc="-1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addition</a:t>
            </a:r>
            <a:r>
              <a:rPr sz="1800" spc="-14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to the</a:t>
            </a:r>
            <a:r>
              <a:rPr sz="1800" spc="-1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grade</a:t>
            </a:r>
            <a:r>
              <a:rPr sz="1800" spc="-1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penalty,</a:t>
            </a:r>
            <a:r>
              <a:rPr sz="1800" spc="-114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student</a:t>
            </a:r>
            <a:r>
              <a:rPr sz="1800" spc="-7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-13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will</a:t>
            </a:r>
            <a:r>
              <a:rPr sz="1800" b="1" spc="-1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-8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not</a:t>
            </a:r>
            <a:r>
              <a:rPr sz="1800" b="1" spc="-3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5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be</a:t>
            </a:r>
            <a:r>
              <a:rPr sz="1800" b="1" spc="-3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allowed</a:t>
            </a:r>
            <a:r>
              <a:rPr sz="1800" b="1" spc="-2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-105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to</a:t>
            </a:r>
            <a:r>
              <a:rPr sz="1800" b="1" spc="-35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enroll</a:t>
            </a:r>
            <a:r>
              <a:rPr sz="1800" spc="-13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in</a:t>
            </a:r>
            <a:r>
              <a:rPr sz="1800" spc="-14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the</a:t>
            </a:r>
            <a:r>
              <a:rPr sz="1800" spc="-11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two</a:t>
            </a:r>
            <a:r>
              <a:rPr sz="1800" spc="-9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CS </a:t>
            </a:r>
            <a:r>
              <a:rPr sz="1800" spc="-10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majors</a:t>
            </a:r>
            <a:r>
              <a:rPr sz="1800" spc="-1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through</a:t>
            </a:r>
            <a:r>
              <a:rPr sz="1800" spc="-9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-23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1+3</a:t>
            </a:r>
            <a:r>
              <a:rPr sz="1800" spc="-12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mode,</a:t>
            </a:r>
            <a:r>
              <a:rPr sz="1800" spc="-10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and</a:t>
            </a:r>
            <a:r>
              <a:rPr sz="1800" spc="-75" dirty="0">
                <a:solidFill>
                  <a:srgbClr val="40404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cannot</a:t>
            </a:r>
            <a:r>
              <a:rPr sz="1800" b="1" spc="-25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receive</a:t>
            </a:r>
            <a:r>
              <a:rPr sz="1800" b="1" spc="1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any</a:t>
            </a:r>
            <a:r>
              <a:rPr sz="1800" b="1" spc="-1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recommendation</a:t>
            </a:r>
            <a:r>
              <a:rPr sz="1800" b="1" spc="-25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for </a:t>
            </a:r>
            <a:r>
              <a:rPr sz="1800" b="1" spc="-35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postgraduate</a:t>
            </a:r>
            <a:r>
              <a:rPr sz="1800" b="1" spc="-6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-4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admission </a:t>
            </a:r>
            <a:r>
              <a:rPr sz="1800" b="1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exam</a:t>
            </a:r>
            <a:r>
              <a:rPr sz="1800" b="1" spc="-45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-35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exemption</a:t>
            </a:r>
            <a:r>
              <a:rPr sz="1800" b="1" spc="-4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and</a:t>
            </a:r>
            <a:r>
              <a:rPr sz="1800" b="1" spc="-45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all</a:t>
            </a:r>
            <a:r>
              <a:rPr sz="1800" b="1" spc="-2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-85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other</a:t>
            </a:r>
            <a:r>
              <a:rPr sz="1800" b="1" spc="-5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7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academic</a:t>
            </a:r>
            <a:r>
              <a:rPr sz="1800" b="1" spc="-35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 Hebrew" pitchFamily="2" charset="-79"/>
                <a:cs typeface="Arial Hebrew" pitchFamily="2" charset="-79"/>
              </a:rPr>
              <a:t>awards.</a:t>
            </a:r>
            <a:endParaRPr sz="1800" dirty="0">
              <a:latin typeface="Arial Hebrew" pitchFamily="2" charset="-79"/>
              <a:cs typeface="Arial Hebrew" pitchFamily="2" charset="-79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33932" y="1030935"/>
            <a:ext cx="37465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35" dirty="0">
                <a:latin typeface="Tahoma"/>
                <a:cs typeface="Tahoma"/>
              </a:rPr>
              <a:t>Plagiarism</a:t>
            </a:r>
            <a:r>
              <a:rPr b="1" spc="-80" dirty="0">
                <a:latin typeface="Tahoma"/>
                <a:cs typeface="Tahoma"/>
              </a:rPr>
              <a:t> </a:t>
            </a:r>
            <a:r>
              <a:rPr b="1" spc="-10" dirty="0">
                <a:latin typeface="Tahoma"/>
                <a:cs typeface="Tahoma"/>
              </a:rPr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3932" y="2632709"/>
            <a:ext cx="9053068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▶</a:t>
            </a:r>
            <a:r>
              <a:rPr sz="1450" dirty="0">
                <a:solidFill>
                  <a:srgbClr val="B311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1800" spc="-7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800" spc="-1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800" spc="-14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1800" spc="-1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8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1800" spc="-114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sz="1800" spc="-17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spc="-114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</a:t>
            </a:r>
            <a:r>
              <a:rPr sz="1800" spc="-10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sz="1800" spc="-8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actually</a:t>
            </a:r>
            <a:r>
              <a:rPr sz="1800" spc="-1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wrote</a:t>
            </a:r>
            <a:r>
              <a:rPr sz="1800" spc="-7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800" spc="-15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1800" spc="-7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1800" spc="-8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assignments </a:t>
            </a:r>
            <a:r>
              <a:rPr sz="1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800" spc="-1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identical</a:t>
            </a:r>
            <a:r>
              <a:rPr sz="1800" spc="-114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1800" spc="-10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nearly</a:t>
            </a:r>
            <a:r>
              <a:rPr sz="1800" spc="-10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identical,</a:t>
            </a:r>
            <a:r>
              <a:rPr sz="1800" spc="-13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8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</a:t>
            </a:r>
            <a:r>
              <a:rPr sz="1800" spc="-14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1800" spc="-6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sz="1800" b="1" spc="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sz="1800" b="1" spc="-1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1800" spc="-1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800" spc="-13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unless</a:t>
            </a:r>
            <a:r>
              <a:rPr sz="1800" spc="-8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1800" spc="-9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confesses</a:t>
            </a:r>
            <a:r>
              <a:rPr sz="1800" spc="-6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sz="1800" spc="-1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7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copied</a:t>
            </a:r>
            <a:r>
              <a:rPr sz="1800" spc="-12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sz="1800" spc="-5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7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1800" spc="-7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knowing </a:t>
            </a:r>
            <a:r>
              <a:rPr sz="1800" spc="-25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8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uploading</a:t>
            </a:r>
            <a:r>
              <a:rPr sz="1800" b="1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z="1800" b="1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z="1800" b="1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sz="1800" b="1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sites</a:t>
            </a:r>
            <a:r>
              <a:rPr sz="18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like</a:t>
            </a:r>
            <a:r>
              <a:rPr sz="1800" b="1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800" b="1" spc="-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3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8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considered</a:t>
            </a:r>
            <a:r>
              <a:rPr sz="1800" b="1" spc="-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800" b="1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sz="1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sz="1800" b="1" spc="-1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sz="1800" spc="-10" dirty="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What</a:t>
            </a:r>
            <a:r>
              <a:rPr spc="-265" dirty="0"/>
              <a:t> </a:t>
            </a:r>
            <a:r>
              <a:rPr spc="-375" dirty="0"/>
              <a:t>is</a:t>
            </a:r>
            <a:r>
              <a:rPr spc="-254" dirty="0"/>
              <a:t> </a:t>
            </a:r>
            <a:r>
              <a:rPr spc="-140" dirty="0"/>
              <a:t>OK,</a:t>
            </a:r>
            <a:r>
              <a:rPr spc="-265" dirty="0"/>
              <a:t> </a:t>
            </a:r>
            <a:r>
              <a:rPr spc="130" dirty="0"/>
              <a:t>and</a:t>
            </a:r>
            <a:r>
              <a:rPr spc="-265" dirty="0"/>
              <a:t> </a:t>
            </a:r>
            <a:r>
              <a:rPr dirty="0"/>
              <a:t>what</a:t>
            </a:r>
            <a:r>
              <a:rPr spc="-254" dirty="0"/>
              <a:t> </a:t>
            </a:r>
            <a:r>
              <a:rPr spc="-265" dirty="0"/>
              <a:t>isn't</a:t>
            </a:r>
            <a:r>
              <a:rPr spc="-245" dirty="0"/>
              <a:t> </a:t>
            </a:r>
            <a:r>
              <a:rPr spc="-25" dirty="0"/>
              <a:t>OK?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3932" y="2606801"/>
            <a:ext cx="8976868" cy="3094437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254635" indent="-342900">
              <a:lnSpc>
                <a:spcPts val="1839"/>
              </a:lnSpc>
              <a:spcBef>
                <a:spcPts val="33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Apple Braille" pitchFamily="2" charset="0"/>
                <a:cs typeface="Lucida Sans Unicode"/>
              </a:rPr>
              <a:t>▶</a:t>
            </a:r>
            <a:r>
              <a:rPr sz="1350" dirty="0">
                <a:solidFill>
                  <a:srgbClr val="B31166"/>
                </a:solidFill>
                <a:latin typeface="Apple Braille" pitchFamily="2" charset="0"/>
                <a:cs typeface="Lucida Sans Unicode"/>
              </a:rPr>
              <a:t>	</a:t>
            </a:r>
            <a:r>
              <a:rPr sz="1700" spc="-2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It's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OK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to</a:t>
            </a:r>
            <a:r>
              <a:rPr sz="1700" spc="-8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7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work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on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an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6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assignment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6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with</a:t>
            </a:r>
            <a:r>
              <a:rPr sz="1700" spc="-9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1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6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friend,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5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and</a:t>
            </a:r>
            <a:r>
              <a:rPr sz="1700" spc="-1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think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together</a:t>
            </a:r>
            <a:r>
              <a:rPr sz="1700" spc="-8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about</a:t>
            </a:r>
            <a:r>
              <a:rPr sz="1700" spc="-1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the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program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8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structure,</a:t>
            </a:r>
            <a:r>
              <a:rPr sz="1700" spc="-7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6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share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ideas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5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and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even</a:t>
            </a:r>
            <a:r>
              <a:rPr sz="1700" spc="-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the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global</a:t>
            </a:r>
            <a:r>
              <a:rPr sz="1700" spc="-1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logic.</a:t>
            </a:r>
            <a:r>
              <a:rPr sz="1700" spc="-1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At</a:t>
            </a:r>
            <a:r>
              <a:rPr sz="1700" spc="-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the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5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time</a:t>
            </a:r>
            <a:r>
              <a:rPr sz="1700" spc="-9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of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actually</a:t>
            </a:r>
            <a:r>
              <a:rPr sz="1700" spc="-14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8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writing</a:t>
            </a:r>
            <a:r>
              <a:rPr sz="1700" spc="-1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the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6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code,</a:t>
            </a:r>
            <a:r>
              <a:rPr sz="1700" spc="-1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you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5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should</a:t>
            </a:r>
            <a:r>
              <a:rPr sz="1700" spc="-14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7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write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it</a:t>
            </a:r>
            <a:r>
              <a:rPr sz="1700" spc="-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alone.</a:t>
            </a:r>
            <a:endParaRPr sz="1700" dirty="0">
              <a:latin typeface="Apple Braille" pitchFamily="2" charset="0"/>
              <a:cs typeface="Verdana"/>
            </a:endParaRPr>
          </a:p>
          <a:p>
            <a:pPr marL="355600" marR="36195" indent="-342900">
              <a:lnSpc>
                <a:spcPts val="1839"/>
              </a:lnSpc>
              <a:spcBef>
                <a:spcPts val="985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Apple Braille" pitchFamily="2" charset="0"/>
                <a:cs typeface="Lucida Sans Unicode"/>
              </a:rPr>
              <a:t>▶</a:t>
            </a:r>
            <a:r>
              <a:rPr sz="1350" dirty="0">
                <a:solidFill>
                  <a:srgbClr val="B31166"/>
                </a:solidFill>
                <a:latin typeface="Apple Braille" pitchFamily="2" charset="0"/>
                <a:cs typeface="Lucida Sans Unicode"/>
              </a:rPr>
              <a:t>	</a:t>
            </a:r>
            <a:r>
              <a:rPr sz="1700" spc="-2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It's</a:t>
            </a:r>
            <a:r>
              <a:rPr sz="1700" spc="-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OK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to</a:t>
            </a:r>
            <a:r>
              <a:rPr sz="1700" spc="-9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7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use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8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in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an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6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assignment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1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6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piece</a:t>
            </a:r>
            <a:r>
              <a:rPr sz="1700" spc="-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of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code</a:t>
            </a:r>
            <a:r>
              <a:rPr sz="1700" spc="-1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found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on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the</a:t>
            </a:r>
            <a:r>
              <a:rPr sz="1700" spc="-9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web,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6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as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long</a:t>
            </a:r>
            <a:r>
              <a:rPr sz="1700" spc="-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as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you</a:t>
            </a:r>
            <a:r>
              <a:rPr sz="1700" spc="-1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indicate</a:t>
            </a:r>
            <a:r>
              <a:rPr sz="1700" spc="-13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8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in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1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comment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where</a:t>
            </a:r>
            <a:r>
              <a:rPr sz="1700" spc="-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it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3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was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found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5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and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don't</a:t>
            </a:r>
            <a:r>
              <a:rPr sz="1700" spc="-1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claim</a:t>
            </a:r>
            <a:r>
              <a:rPr sz="1700" spc="-13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it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6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as</a:t>
            </a:r>
            <a:r>
              <a:rPr sz="1700" spc="-1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7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your</a:t>
            </a:r>
            <a:r>
              <a:rPr sz="1700" spc="-1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own </a:t>
            </a:r>
            <a:r>
              <a:rPr sz="1700" spc="-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work.</a:t>
            </a:r>
            <a:endParaRPr sz="1700" dirty="0">
              <a:latin typeface="Apple Braille" pitchFamily="2" charset="0"/>
              <a:cs typeface="Verdana"/>
            </a:endParaRPr>
          </a:p>
          <a:p>
            <a:pPr marL="12700">
              <a:lnSpc>
                <a:spcPts val="1939"/>
              </a:lnSpc>
              <a:spcBef>
                <a:spcPts val="76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Apple Braille" pitchFamily="2" charset="0"/>
                <a:cs typeface="Lucida Sans Unicode"/>
              </a:rPr>
              <a:t>▶</a:t>
            </a:r>
            <a:r>
              <a:rPr sz="1350" dirty="0">
                <a:solidFill>
                  <a:srgbClr val="B31166"/>
                </a:solidFill>
                <a:latin typeface="Apple Braille" pitchFamily="2" charset="0"/>
                <a:cs typeface="Lucida Sans Unicode"/>
              </a:rPr>
              <a:t>	</a:t>
            </a:r>
            <a:r>
              <a:rPr sz="1700" spc="-2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It's</a:t>
            </a:r>
            <a:r>
              <a:rPr sz="1700" spc="-1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OK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to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help</a:t>
            </a:r>
            <a:r>
              <a:rPr sz="1700" spc="-1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8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friends</a:t>
            </a:r>
            <a:r>
              <a:rPr sz="1700" spc="-14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6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debug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9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their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5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programs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9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(you'll</a:t>
            </a:r>
            <a:r>
              <a:rPr sz="1700" spc="-1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probably</a:t>
            </a:r>
            <a:r>
              <a:rPr sz="1700" spc="-13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3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learn</a:t>
            </a:r>
            <a:r>
              <a:rPr sz="1700" spc="-14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1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5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lot</a:t>
            </a:r>
            <a:r>
              <a:rPr sz="1700" spc="-13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yourself</a:t>
            </a:r>
            <a:endParaRPr sz="1700" dirty="0">
              <a:latin typeface="Apple Braille" pitchFamily="2" charset="0"/>
              <a:cs typeface="Verdana"/>
            </a:endParaRPr>
          </a:p>
          <a:p>
            <a:pPr marL="355600">
              <a:lnSpc>
                <a:spcPts val="1939"/>
              </a:lnSpc>
            </a:pP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by</a:t>
            </a:r>
            <a:r>
              <a:rPr sz="1700" spc="-1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doing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so).</a:t>
            </a:r>
            <a:endParaRPr sz="1700" dirty="0">
              <a:latin typeface="Apple Braille" pitchFamily="2" charset="0"/>
              <a:cs typeface="Verdana"/>
            </a:endParaRPr>
          </a:p>
          <a:p>
            <a:pPr marL="355600" marR="113030" indent="-342900">
              <a:lnSpc>
                <a:spcPts val="1839"/>
              </a:lnSpc>
              <a:spcBef>
                <a:spcPts val="103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Apple Braille" pitchFamily="2" charset="0"/>
                <a:cs typeface="Lucida Sans Unicode"/>
              </a:rPr>
              <a:t>▶</a:t>
            </a:r>
            <a:r>
              <a:rPr sz="1350" dirty="0">
                <a:solidFill>
                  <a:srgbClr val="B31166"/>
                </a:solidFill>
                <a:latin typeface="Apple Braille" pitchFamily="2" charset="0"/>
                <a:cs typeface="Lucida Sans Unicode"/>
              </a:rPr>
              <a:t>	</a:t>
            </a:r>
            <a:r>
              <a:rPr sz="1700" spc="-2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It's</a:t>
            </a:r>
            <a:r>
              <a:rPr sz="1700" spc="-13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OK</a:t>
            </a:r>
            <a:r>
              <a:rPr sz="1700" spc="-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to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5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show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7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your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code</a:t>
            </a:r>
            <a:r>
              <a:rPr sz="1700" spc="-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to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8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friends</a:t>
            </a:r>
            <a:r>
              <a:rPr sz="1700" spc="-14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to</a:t>
            </a:r>
            <a:r>
              <a:rPr sz="1700" spc="-9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explain</a:t>
            </a:r>
            <a:r>
              <a:rPr sz="1700" spc="-15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the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logic,</a:t>
            </a:r>
            <a:r>
              <a:rPr sz="1700" spc="-14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6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as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long</a:t>
            </a:r>
            <a:r>
              <a:rPr sz="1700" spc="-13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6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as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the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friends </a:t>
            </a:r>
            <a:r>
              <a:rPr sz="1700" spc="-7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write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9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their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12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code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on</a:t>
            </a:r>
            <a:r>
              <a:rPr sz="1700" spc="-114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8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their</a:t>
            </a:r>
            <a:r>
              <a:rPr sz="1700" spc="-105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own</a:t>
            </a:r>
            <a:r>
              <a:rPr sz="1700" spc="-1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 </a:t>
            </a:r>
            <a:r>
              <a:rPr sz="1700" spc="-10" dirty="0">
                <a:solidFill>
                  <a:srgbClr val="00AFEF"/>
                </a:solidFill>
                <a:latin typeface="Apple Braille" pitchFamily="2" charset="0"/>
                <a:cs typeface="Verdana"/>
              </a:rPr>
              <a:t>later.</a:t>
            </a:r>
            <a:endParaRPr sz="1700" dirty="0">
              <a:latin typeface="Apple Braille" pitchFamily="2" charset="0"/>
              <a:cs typeface="Verdana"/>
            </a:endParaRPr>
          </a:p>
          <a:p>
            <a:pPr marL="12700">
              <a:lnSpc>
                <a:spcPts val="1939"/>
              </a:lnSpc>
              <a:spcBef>
                <a:spcPts val="760"/>
              </a:spcBef>
              <a:tabLst>
                <a:tab pos="354965" algn="l"/>
              </a:tabLst>
            </a:pPr>
            <a:r>
              <a:rPr sz="1350" spc="55" dirty="0">
                <a:solidFill>
                  <a:srgbClr val="B31166"/>
                </a:solidFill>
                <a:latin typeface="Apple Braille" pitchFamily="2" charset="0"/>
                <a:cs typeface="Lucida Sans Unicode"/>
              </a:rPr>
              <a:t>▶</a:t>
            </a:r>
            <a:r>
              <a:rPr sz="1350" dirty="0">
                <a:solidFill>
                  <a:srgbClr val="B31166"/>
                </a:solidFill>
                <a:latin typeface="Apple Braille" pitchFamily="2" charset="0"/>
                <a:cs typeface="Lucida Sans Unicode"/>
              </a:rPr>
              <a:t>	</a:t>
            </a:r>
            <a:r>
              <a:rPr sz="1700" b="1" spc="-20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It's</a:t>
            </a:r>
            <a:r>
              <a:rPr sz="1700" b="1" spc="-3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9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NOT</a:t>
            </a:r>
            <a:r>
              <a:rPr sz="1700" b="1" spc="-3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OK</a:t>
            </a:r>
            <a:r>
              <a:rPr sz="1700" b="1" spc="-5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9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to</a:t>
            </a:r>
            <a:r>
              <a:rPr sz="1700" b="1" spc="-2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take</a:t>
            </a:r>
            <a:r>
              <a:rPr sz="1700" b="1" spc="-3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6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the</a:t>
            </a:r>
            <a:r>
              <a:rPr sz="1700" b="1" spc="-2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8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code</a:t>
            </a:r>
            <a:r>
              <a:rPr sz="1700" b="1" spc="-4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of</a:t>
            </a:r>
            <a:r>
              <a:rPr sz="1700" b="1" spc="-2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11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a</a:t>
            </a:r>
            <a:r>
              <a:rPr sz="1700" b="1" spc="-3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7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friend,</a:t>
            </a:r>
            <a:r>
              <a:rPr sz="1700" b="1" spc="-3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make</a:t>
            </a:r>
            <a:r>
              <a:rPr sz="1700" b="1" spc="-3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11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a</a:t>
            </a:r>
            <a:r>
              <a:rPr sz="1700" b="1" spc="-2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9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few</a:t>
            </a:r>
            <a:r>
              <a:rPr sz="1700" b="1" spc="-3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cosmetic</a:t>
            </a:r>
            <a:r>
              <a:rPr sz="1700" b="1" spc="-3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changes</a:t>
            </a:r>
            <a:endParaRPr sz="1700" dirty="0">
              <a:latin typeface="Apple Braille" pitchFamily="2" charset="0"/>
              <a:cs typeface="Tahoma"/>
            </a:endParaRPr>
          </a:p>
          <a:p>
            <a:pPr marL="355600">
              <a:lnSpc>
                <a:spcPts val="1939"/>
              </a:lnSpc>
            </a:pPr>
            <a:r>
              <a:rPr sz="1700" b="1" spc="-4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(comments,</a:t>
            </a:r>
            <a:r>
              <a:rPr sz="1700" b="1" spc="-8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some</a:t>
            </a:r>
            <a:r>
              <a:rPr sz="1700" b="1" spc="-6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variable</a:t>
            </a:r>
            <a:r>
              <a:rPr sz="1700" b="1" spc="-7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2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names)</a:t>
            </a:r>
            <a:r>
              <a:rPr sz="1700" b="1" spc="-4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and</a:t>
            </a:r>
            <a:r>
              <a:rPr sz="1700" b="1" spc="-6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pass</a:t>
            </a:r>
            <a:r>
              <a:rPr sz="1700" b="1" spc="-6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15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it</a:t>
            </a:r>
            <a:r>
              <a:rPr sz="1700" b="1" spc="-1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as</a:t>
            </a:r>
            <a:r>
              <a:rPr sz="1700" b="1" spc="-5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5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your</a:t>
            </a:r>
            <a:r>
              <a:rPr sz="1700" b="1" spc="-65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5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own</a:t>
            </a:r>
            <a:r>
              <a:rPr sz="1700" b="1" spc="-6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pple Braille" pitchFamily="2" charset="0"/>
                <a:cs typeface="Tahoma"/>
              </a:rPr>
              <a:t>work.</a:t>
            </a:r>
            <a:endParaRPr sz="1700" dirty="0">
              <a:latin typeface="Apple Braille" pitchFamily="2" charset="0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07305" y="0"/>
            <a:ext cx="742950" cy="1195070"/>
            <a:chOff x="10407305" y="0"/>
            <a:chExt cx="742950" cy="11950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7305" y="0"/>
              <a:ext cx="742381" cy="11949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437875" y="0"/>
              <a:ext cx="685800" cy="1143000"/>
            </a:xfrm>
            <a:custGeom>
              <a:avLst/>
              <a:gdLst/>
              <a:ahLst/>
              <a:cxnLst/>
              <a:rect l="l" t="t" r="r" b="b"/>
              <a:pathLst>
                <a:path w="685800" h="1143000">
                  <a:moveTo>
                    <a:pt x="6858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685800" y="11430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 descr="刺激物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7282" y="3032001"/>
            <a:ext cx="2283618" cy="201733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538476" y="1085779"/>
            <a:ext cx="673925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0915" marR="5080" indent="-958850">
              <a:lnSpc>
                <a:spcPct val="150100"/>
              </a:lnSpc>
              <a:spcBef>
                <a:spcPts val="100"/>
              </a:spcBef>
            </a:pPr>
            <a:r>
              <a:rPr sz="3200" spc="65" dirty="0">
                <a:solidFill>
                  <a:srgbClr val="FF0000"/>
                </a:solidFill>
              </a:rPr>
              <a:t>No</a:t>
            </a:r>
            <a:r>
              <a:rPr sz="3200" spc="-229" dirty="0">
                <a:solidFill>
                  <a:srgbClr val="FF0000"/>
                </a:solidFill>
              </a:rPr>
              <a:t> </a:t>
            </a:r>
            <a:r>
              <a:rPr sz="3200" spc="-35" dirty="0">
                <a:solidFill>
                  <a:srgbClr val="FF0000"/>
                </a:solidFill>
              </a:rPr>
              <a:t>excuse</a:t>
            </a:r>
            <a:r>
              <a:rPr sz="3200" spc="-260" dirty="0">
                <a:solidFill>
                  <a:srgbClr val="FF0000"/>
                </a:solidFill>
              </a:rPr>
              <a:t> </a:t>
            </a:r>
            <a:r>
              <a:rPr sz="3200" spc="-180" dirty="0">
                <a:solidFill>
                  <a:srgbClr val="FF0000"/>
                </a:solidFill>
              </a:rPr>
              <a:t>will</a:t>
            </a:r>
            <a:r>
              <a:rPr sz="3200" spc="-225" dirty="0">
                <a:solidFill>
                  <a:srgbClr val="FF0000"/>
                </a:solidFill>
              </a:rPr>
              <a:t> </a:t>
            </a:r>
            <a:r>
              <a:rPr sz="3200" spc="175" dirty="0">
                <a:solidFill>
                  <a:srgbClr val="FF0000"/>
                </a:solidFill>
              </a:rPr>
              <a:t>be</a:t>
            </a:r>
            <a:r>
              <a:rPr sz="3200" spc="-229" dirty="0">
                <a:solidFill>
                  <a:srgbClr val="FF0000"/>
                </a:solidFill>
              </a:rPr>
              <a:t> </a:t>
            </a:r>
            <a:r>
              <a:rPr sz="3200" spc="195" dirty="0">
                <a:solidFill>
                  <a:srgbClr val="FF0000"/>
                </a:solidFill>
              </a:rPr>
              <a:t>accepted</a:t>
            </a:r>
            <a:r>
              <a:rPr sz="3200" spc="-245" dirty="0">
                <a:solidFill>
                  <a:srgbClr val="FF0000"/>
                </a:solidFill>
              </a:rPr>
              <a:t> </a:t>
            </a:r>
            <a:r>
              <a:rPr sz="3200" spc="130" dirty="0">
                <a:solidFill>
                  <a:srgbClr val="FF0000"/>
                </a:solidFill>
              </a:rPr>
              <a:t>once </a:t>
            </a:r>
            <a:r>
              <a:rPr sz="3200" spc="-85" dirty="0">
                <a:solidFill>
                  <a:srgbClr val="FF0000"/>
                </a:solidFill>
              </a:rPr>
              <a:t>plagiarism</a:t>
            </a:r>
            <a:r>
              <a:rPr sz="3200" spc="-229" dirty="0">
                <a:solidFill>
                  <a:srgbClr val="FF0000"/>
                </a:solidFill>
              </a:rPr>
              <a:t> </a:t>
            </a:r>
            <a:r>
              <a:rPr sz="3200" spc="-335" dirty="0">
                <a:solidFill>
                  <a:srgbClr val="FF0000"/>
                </a:solidFill>
              </a:rPr>
              <a:t>is</a:t>
            </a:r>
            <a:r>
              <a:rPr sz="3200" spc="-229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discovered!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70"/>
            <a:ext cx="12192000" cy="6856730"/>
            <a:chOff x="0" y="1270"/>
            <a:chExt cx="12192000" cy="6856730"/>
          </a:xfrm>
        </p:grpSpPr>
        <p:sp>
          <p:nvSpPr>
            <p:cNvPr id="3" name="object 3"/>
            <p:cNvSpPr/>
            <p:nvPr/>
          </p:nvSpPr>
          <p:spPr>
            <a:xfrm>
              <a:off x="11016995" y="467868"/>
              <a:ext cx="696595" cy="5919470"/>
            </a:xfrm>
            <a:custGeom>
              <a:avLst/>
              <a:gdLst/>
              <a:ahLst/>
              <a:cxnLst/>
              <a:rect l="l" t="t" r="r" b="b"/>
              <a:pathLst>
                <a:path w="696595" h="5919470">
                  <a:moveTo>
                    <a:pt x="696468" y="0"/>
                  </a:moveTo>
                  <a:lnTo>
                    <a:pt x="0" y="0"/>
                  </a:lnTo>
                  <a:lnTo>
                    <a:pt x="0" y="5919216"/>
                  </a:lnTo>
                  <a:lnTo>
                    <a:pt x="696468" y="5919216"/>
                  </a:lnTo>
                  <a:lnTo>
                    <a:pt x="696468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70"/>
              <a:ext cx="12192000" cy="685673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346072" y="3164205"/>
            <a:ext cx="26104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14" dirty="0">
                <a:latin typeface="Verdana"/>
                <a:cs typeface="Verdana"/>
              </a:rPr>
              <a:t>Assignment</a:t>
            </a:r>
            <a:r>
              <a:rPr sz="3200" spc="-204" dirty="0">
                <a:latin typeface="Verdana"/>
                <a:cs typeface="Verdana"/>
              </a:rPr>
              <a:t> </a:t>
            </a:r>
            <a:r>
              <a:rPr sz="3200" spc="-315" dirty="0">
                <a:latin typeface="Verdana"/>
                <a:cs typeface="Verdana"/>
              </a:rPr>
              <a:t>0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57115" y="1930907"/>
            <a:ext cx="0" cy="3200400"/>
          </a:xfrm>
          <a:custGeom>
            <a:avLst/>
            <a:gdLst/>
            <a:ahLst/>
            <a:cxnLst/>
            <a:rect l="l" t="t" r="r" b="b"/>
            <a:pathLst>
              <a:path h="3200400">
                <a:moveTo>
                  <a:pt x="0" y="0"/>
                </a:moveTo>
                <a:lnTo>
                  <a:pt x="0" y="3200399"/>
                </a:lnTo>
              </a:path>
            </a:pathLst>
          </a:custGeom>
          <a:ln w="15240">
            <a:solidFill>
              <a:srgbClr val="3A2F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757673" y="2863977"/>
            <a:ext cx="4493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000000"/>
                </a:solidFill>
              </a:rPr>
              <a:t>Please</a:t>
            </a:r>
            <a:r>
              <a:rPr sz="1800" spc="-130" dirty="0">
                <a:solidFill>
                  <a:srgbClr val="000000"/>
                </a:solidFill>
              </a:rPr>
              <a:t> </a:t>
            </a:r>
            <a:r>
              <a:rPr sz="1800" spc="-90" dirty="0">
                <a:solidFill>
                  <a:srgbClr val="000000"/>
                </a:solidFill>
              </a:rPr>
              <a:t>submit</a:t>
            </a:r>
            <a:r>
              <a:rPr sz="1800" spc="-140" dirty="0">
                <a:solidFill>
                  <a:srgbClr val="000000"/>
                </a:solidFill>
              </a:rPr>
              <a:t> </a:t>
            </a:r>
            <a:r>
              <a:rPr sz="1800" b="1" spc="-50" dirty="0">
                <a:solidFill>
                  <a:srgbClr val="000000"/>
                </a:solidFill>
                <a:latin typeface="Tahoma"/>
                <a:cs typeface="Tahoma"/>
              </a:rPr>
              <a:t>Assignment</a:t>
            </a:r>
            <a:r>
              <a:rPr sz="1800" b="1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800" b="1" spc="-155" dirty="0">
                <a:solidFill>
                  <a:srgbClr val="000000"/>
                </a:solidFill>
                <a:latin typeface="Tahoma"/>
                <a:cs typeface="Tahoma"/>
              </a:rPr>
              <a:t>0</a:t>
            </a:r>
            <a:r>
              <a:rPr sz="1800" b="1" spc="-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800" spc="-55" dirty="0">
                <a:solidFill>
                  <a:srgbClr val="000000"/>
                </a:solidFill>
              </a:rPr>
              <a:t>(</a:t>
            </a:r>
            <a:r>
              <a:rPr sz="1800" b="1" spc="-55" dirty="0">
                <a:solidFill>
                  <a:srgbClr val="404040"/>
                </a:solidFill>
                <a:latin typeface="Tahoma"/>
                <a:cs typeface="Tahoma"/>
              </a:rPr>
              <a:t>Assignment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7673" y="3138296"/>
            <a:ext cx="3704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404040"/>
                </a:solidFill>
                <a:latin typeface="Tahoma"/>
                <a:cs typeface="Tahoma"/>
              </a:rPr>
              <a:t>Declaration</a:t>
            </a:r>
            <a:r>
              <a:rPr sz="1800" b="1" spc="-8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b="1" spc="-95" dirty="0">
                <a:solidFill>
                  <a:srgbClr val="404040"/>
                </a:solidFill>
                <a:latin typeface="Tahoma"/>
                <a:cs typeface="Tahoma"/>
              </a:rPr>
              <a:t>Form</a:t>
            </a:r>
            <a:r>
              <a:rPr sz="1800" b="1" spc="-35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800" spc="-160" dirty="0">
                <a:latin typeface="Verdana"/>
                <a:cs typeface="Verdana"/>
              </a:rPr>
              <a:t>)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to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Blackboard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11285" y="3151632"/>
            <a:ext cx="1203960" cy="277495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155"/>
              </a:lnSpc>
            </a:pPr>
            <a:r>
              <a:rPr sz="1800" b="1" spc="-25" dirty="0">
                <a:latin typeface="Tahoma"/>
                <a:cs typeface="Tahoma"/>
              </a:rPr>
              <a:t>before</a:t>
            </a:r>
            <a:r>
              <a:rPr sz="1800" b="1" spc="-9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the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10760" y="3427476"/>
            <a:ext cx="3037840" cy="257635"/>
          </a:xfrm>
          <a:prstGeom prst="rect">
            <a:avLst/>
          </a:prstGeom>
          <a:solidFill>
            <a:srgbClr val="FF00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5"/>
              </a:lnSpc>
            </a:pPr>
            <a:r>
              <a:rPr sz="1800" b="1" spc="-80" dirty="0">
                <a:latin typeface="Tahoma"/>
                <a:cs typeface="Tahoma"/>
              </a:rPr>
              <a:t>deadline</a:t>
            </a:r>
            <a:r>
              <a:rPr sz="1800" b="1" spc="-80" dirty="0">
                <a:latin typeface="SimSun"/>
                <a:cs typeface="SimSun"/>
              </a:rPr>
              <a:t>：</a:t>
            </a:r>
            <a:r>
              <a:rPr sz="1800" b="1" spc="-80" dirty="0">
                <a:latin typeface="Tahoma"/>
                <a:cs typeface="Tahoma"/>
              </a:rPr>
              <a:t>1</a:t>
            </a:r>
            <a:r>
              <a:rPr lang="en-US" altLang="zh-CN" sz="1800" b="1" spc="-80" dirty="0">
                <a:latin typeface="Tahoma"/>
                <a:cs typeface="Tahoma"/>
              </a:rPr>
              <a:t>1</a:t>
            </a:r>
            <a:r>
              <a:rPr sz="1800" b="1" spc="-80" dirty="0">
                <a:latin typeface="Tahoma"/>
                <a:cs typeface="Tahoma"/>
              </a:rPr>
              <a:t>/</a:t>
            </a:r>
            <a:r>
              <a:rPr lang="en-US" altLang="zh-CN" sz="1800" b="1" spc="-80" dirty="0">
                <a:latin typeface="Tahoma"/>
                <a:cs typeface="Tahoma"/>
              </a:rPr>
              <a:t>3</a:t>
            </a:r>
            <a:r>
              <a:rPr sz="1800" b="1" spc="-80" dirty="0">
                <a:latin typeface="Tahoma"/>
                <a:cs typeface="Tahoma"/>
              </a:rPr>
              <a:t>/202</a:t>
            </a:r>
            <a:r>
              <a:rPr lang="en-US" altLang="zh-CN" sz="1800" b="1" spc="-80" dirty="0">
                <a:latin typeface="Tahoma"/>
                <a:cs typeface="Tahoma"/>
              </a:rPr>
              <a:t>6</a:t>
            </a:r>
            <a:r>
              <a:rPr sz="1800" b="1" spc="15" dirty="0">
                <a:latin typeface="Tahoma"/>
                <a:cs typeface="Tahoma"/>
              </a:rPr>
              <a:t> </a:t>
            </a:r>
            <a:r>
              <a:rPr sz="1800" b="1" spc="-35" dirty="0">
                <a:latin typeface="Tahoma"/>
                <a:cs typeface="Tahoma"/>
              </a:rPr>
              <a:t>2</a:t>
            </a:r>
            <a:r>
              <a:rPr lang="en-US" altLang="zh-CN" sz="1800" b="1" spc="-35" dirty="0">
                <a:latin typeface="Tahoma"/>
                <a:cs typeface="Tahoma"/>
              </a:rPr>
              <a:t>3</a:t>
            </a:r>
            <a:r>
              <a:rPr sz="1800" b="1" spc="-35" dirty="0">
                <a:latin typeface="Tahoma"/>
                <a:cs typeface="Tahoma"/>
              </a:rPr>
              <a:t>:</a:t>
            </a:r>
            <a:r>
              <a:rPr lang="en-US" altLang="zh-CN" sz="1800" b="1" spc="-35" dirty="0">
                <a:latin typeface="Tahoma"/>
                <a:cs typeface="Tahoma"/>
              </a:rPr>
              <a:t>59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95641" y="3414141"/>
            <a:ext cx="2076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65" dirty="0">
                <a:latin typeface="Verdana"/>
                <a:cs typeface="Verdana"/>
              </a:rPr>
              <a:t>,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60" dirty="0">
                <a:latin typeface="Verdana"/>
                <a:cs typeface="Verdana"/>
              </a:rPr>
              <a:t>otherwise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you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will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57673" y="3686936"/>
            <a:ext cx="4026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latin typeface="Verdana"/>
                <a:cs typeface="Verdana"/>
              </a:rPr>
              <a:t>lose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spc="-50" dirty="0">
                <a:latin typeface="Verdana"/>
                <a:cs typeface="Verdana"/>
              </a:rPr>
              <a:t>all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65" dirty="0">
                <a:latin typeface="Verdana"/>
                <a:cs typeface="Verdana"/>
              </a:rPr>
              <a:t>points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75" dirty="0">
                <a:latin typeface="Verdana"/>
                <a:cs typeface="Verdana"/>
              </a:rPr>
              <a:t>for</a:t>
            </a:r>
            <a:r>
              <a:rPr sz="1800" spc="-135" dirty="0">
                <a:latin typeface="Verdana"/>
                <a:cs typeface="Verdana"/>
              </a:rPr>
              <a:t> </a:t>
            </a:r>
            <a:r>
              <a:rPr sz="1800" spc="-55" dirty="0">
                <a:latin typeface="Verdana"/>
                <a:cs typeface="Verdana"/>
              </a:rPr>
              <a:t>class</a:t>
            </a:r>
            <a:r>
              <a:rPr sz="1800" spc="-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performance.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rgbClr val="FFFFFF"/>
                </a:solidFill>
              </a:rPr>
              <a:t>Course</a:t>
            </a:r>
            <a:r>
              <a:rPr spc="-27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Arrangement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3932" y="2632709"/>
            <a:ext cx="77031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Explain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information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each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project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share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useful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materials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932" y="3434588"/>
            <a:ext cx="7807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Explain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realization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main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algorithm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theoretical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study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3932" y="4237735"/>
            <a:ext cx="5923280" cy="1103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Collect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common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questions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projects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explain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975"/>
              </a:spcBef>
            </a:pP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Share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design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404040"/>
                </a:solidFill>
                <a:latin typeface="Verdana"/>
                <a:cs typeface="Verdana"/>
              </a:rPr>
              <a:t>ideas,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experience,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404040"/>
                </a:solidFill>
                <a:latin typeface="Verdana"/>
                <a:cs typeface="Verdana"/>
              </a:rPr>
              <a:t>etc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63506" y="2725673"/>
            <a:ext cx="1432560" cy="1374775"/>
          </a:xfrm>
          <a:prstGeom prst="rect">
            <a:avLst/>
          </a:prstGeom>
          <a:solidFill>
            <a:srgbClr val="B31166">
              <a:alpha val="19999"/>
            </a:srgbClr>
          </a:solidFill>
          <a:ln w="28955">
            <a:solidFill>
              <a:srgbClr val="83094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800">
              <a:latin typeface="Times New Roman"/>
              <a:cs typeface="Times New Roman"/>
            </a:endParaRPr>
          </a:p>
          <a:p>
            <a:pPr marL="25146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Practice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>
                <a:solidFill>
                  <a:srgbClr val="FFFFFF"/>
                </a:solidFill>
              </a:rPr>
              <a:t>Programming</a:t>
            </a:r>
            <a:r>
              <a:rPr spc="-229" dirty="0">
                <a:solidFill>
                  <a:srgbClr val="FFFFFF"/>
                </a:solidFill>
              </a:rPr>
              <a:t> </a:t>
            </a:r>
            <a:r>
              <a:rPr spc="55" dirty="0">
                <a:solidFill>
                  <a:srgbClr val="FFFFFF"/>
                </a:solidFill>
              </a:rPr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3932" y="2460782"/>
            <a:ext cx="8312784" cy="347980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  <a:tabLst>
                <a:tab pos="354965" algn="l"/>
              </a:tabLst>
            </a:pPr>
            <a:r>
              <a:rPr sz="1500" spc="90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900" dirty="0">
                <a:solidFill>
                  <a:srgbClr val="0431FF"/>
                </a:solidFill>
                <a:latin typeface="Verdana"/>
                <a:cs typeface="Verdana"/>
              </a:rPr>
              <a:t>We</a:t>
            </a:r>
            <a:r>
              <a:rPr sz="1900" spc="-120" dirty="0">
                <a:solidFill>
                  <a:srgbClr val="0431FF"/>
                </a:solidFill>
                <a:latin typeface="Verdana"/>
                <a:cs typeface="Verdana"/>
              </a:rPr>
              <a:t> Use</a:t>
            </a:r>
            <a:r>
              <a:rPr sz="1900" spc="-110" dirty="0">
                <a:solidFill>
                  <a:srgbClr val="0431FF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0431FF"/>
                </a:solidFill>
                <a:latin typeface="Verdana"/>
                <a:cs typeface="Verdana"/>
              </a:rPr>
              <a:t>Python</a:t>
            </a:r>
            <a:r>
              <a:rPr sz="1900" spc="-100" dirty="0">
                <a:solidFill>
                  <a:srgbClr val="0431FF"/>
                </a:solidFill>
                <a:latin typeface="Verdana"/>
                <a:cs typeface="Verdana"/>
              </a:rPr>
              <a:t> </a:t>
            </a:r>
            <a:r>
              <a:rPr sz="1900" spc="-95" dirty="0">
                <a:solidFill>
                  <a:srgbClr val="0431FF"/>
                </a:solidFill>
                <a:latin typeface="Verdana"/>
                <a:cs typeface="Verdana"/>
              </a:rPr>
              <a:t>in</a:t>
            </a:r>
            <a:r>
              <a:rPr sz="1900" spc="-145" dirty="0">
                <a:solidFill>
                  <a:srgbClr val="0431FF"/>
                </a:solidFill>
                <a:latin typeface="Verdana"/>
                <a:cs typeface="Verdana"/>
              </a:rPr>
              <a:t> </a:t>
            </a:r>
            <a:r>
              <a:rPr sz="1900" spc="-60" dirty="0">
                <a:solidFill>
                  <a:srgbClr val="0431FF"/>
                </a:solidFill>
                <a:latin typeface="Verdana"/>
                <a:cs typeface="Verdana"/>
              </a:rPr>
              <a:t>Our</a:t>
            </a:r>
            <a:r>
              <a:rPr sz="1900" spc="-130" dirty="0">
                <a:solidFill>
                  <a:srgbClr val="0431FF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0431FF"/>
                </a:solidFill>
                <a:latin typeface="Verdana"/>
                <a:cs typeface="Verdana"/>
              </a:rPr>
              <a:t>Project</a:t>
            </a:r>
            <a:endParaRPr sz="19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  <a:tabLst>
                <a:tab pos="756285" algn="l"/>
              </a:tabLst>
            </a:pPr>
            <a:r>
              <a:rPr sz="1100" spc="5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Easy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Syntax,</a:t>
            </a:r>
            <a:r>
              <a:rPr sz="14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404040"/>
                </a:solidFill>
                <a:latin typeface="Verdana"/>
                <a:cs typeface="Verdana"/>
              </a:rPr>
              <a:t>Readability,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High-</a:t>
            </a:r>
            <a:r>
              <a:rPr sz="1400" spc="-40" dirty="0">
                <a:solidFill>
                  <a:srgbClr val="404040"/>
                </a:solidFill>
                <a:latin typeface="Verdana"/>
                <a:cs typeface="Verdana"/>
              </a:rPr>
              <a:t>Level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Language,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object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Verdana"/>
                <a:cs typeface="Verdana"/>
              </a:rPr>
              <a:t>oriented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404040"/>
                </a:solidFill>
                <a:latin typeface="Verdana"/>
                <a:cs typeface="Verdana"/>
              </a:rPr>
              <a:t>programming,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Verdana"/>
                <a:cs typeface="Verdana"/>
              </a:rPr>
              <a:t>free,</a:t>
            </a:r>
            <a:r>
              <a:rPr sz="14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etc.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600" spc="-60" dirty="0">
                <a:solidFill>
                  <a:srgbClr val="0431FF"/>
                </a:solidFill>
                <a:latin typeface="Verdana"/>
                <a:cs typeface="Verdana"/>
              </a:rPr>
              <a:t>NumPy</a:t>
            </a:r>
            <a:r>
              <a:rPr sz="1600" spc="-65" dirty="0">
                <a:solidFill>
                  <a:srgbClr val="0431FF"/>
                </a:solidFill>
                <a:latin typeface="Verdana"/>
                <a:cs typeface="Verdana"/>
              </a:rPr>
              <a:t> </a:t>
            </a:r>
            <a:r>
              <a:rPr sz="1600" spc="50" dirty="0">
                <a:solidFill>
                  <a:srgbClr val="0431FF"/>
                </a:solidFill>
                <a:latin typeface="Verdana"/>
                <a:cs typeface="Verdana"/>
              </a:rPr>
              <a:t>Package</a:t>
            </a:r>
            <a:endParaRPr sz="16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665"/>
              </a:spcBef>
              <a:tabLst>
                <a:tab pos="756285" algn="l"/>
              </a:tabLst>
            </a:pPr>
            <a:r>
              <a:rPr sz="1100" spc="5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fundamental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70" dirty="0">
                <a:solidFill>
                  <a:srgbClr val="404040"/>
                </a:solidFill>
                <a:latin typeface="Verdana"/>
                <a:cs typeface="Verdana"/>
              </a:rPr>
              <a:t>package</a:t>
            </a:r>
            <a:r>
              <a:rPr sz="1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404040"/>
                </a:solidFill>
                <a:latin typeface="Verdana"/>
                <a:cs typeface="Verdana"/>
              </a:rPr>
              <a:t>scientific</a:t>
            </a:r>
            <a:r>
              <a:rPr sz="1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computing</a:t>
            </a:r>
            <a:endParaRPr sz="1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620"/>
              </a:spcBef>
              <a:tabLst>
                <a:tab pos="756285" algn="l"/>
              </a:tabLst>
            </a:pPr>
            <a:r>
              <a:rPr sz="125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2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600" spc="-200" dirty="0">
                <a:solidFill>
                  <a:srgbClr val="404040"/>
                </a:solidFill>
                <a:latin typeface="Verdana"/>
                <a:cs typeface="Verdana"/>
              </a:rPr>
              <a:t>It</a:t>
            </a:r>
            <a:r>
              <a:rPr sz="16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Verdana"/>
                <a:cs typeface="Verdana"/>
              </a:rPr>
              <a:t>contains</a:t>
            </a:r>
            <a:r>
              <a:rPr sz="16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404040"/>
                </a:solidFill>
                <a:latin typeface="Verdana"/>
                <a:cs typeface="Verdana"/>
              </a:rPr>
              <a:t>among</a:t>
            </a:r>
            <a:r>
              <a:rPr sz="16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404040"/>
                </a:solidFill>
                <a:latin typeface="Verdana"/>
                <a:cs typeface="Verdana"/>
              </a:rPr>
              <a:t>other</a:t>
            </a:r>
            <a:r>
              <a:rPr sz="16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Verdana"/>
                <a:cs typeface="Verdana"/>
              </a:rPr>
              <a:t>things:</a:t>
            </a:r>
            <a:endParaRPr sz="16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665"/>
              </a:spcBef>
            </a:pPr>
            <a:r>
              <a:rPr sz="1100" spc="10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100" spc="85" dirty="0">
                <a:solidFill>
                  <a:srgbClr val="B31166"/>
                </a:solidFill>
                <a:latin typeface="Lucida Sans Unicode"/>
                <a:cs typeface="Lucida Sans Unicode"/>
              </a:rPr>
              <a:t>  </a:t>
            </a:r>
            <a:r>
              <a:rPr sz="1400" spc="114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Verdana"/>
                <a:cs typeface="Verdana"/>
              </a:rPr>
              <a:t>powerful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N-</a:t>
            </a:r>
            <a:r>
              <a:rPr sz="1400" spc="-40" dirty="0">
                <a:solidFill>
                  <a:srgbClr val="404040"/>
                </a:solidFill>
                <a:latin typeface="Verdana"/>
                <a:cs typeface="Verdana"/>
              </a:rPr>
              <a:t>dimensional</a:t>
            </a:r>
            <a:r>
              <a:rPr sz="1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404040"/>
                </a:solidFill>
                <a:latin typeface="Verdana"/>
                <a:cs typeface="Verdana"/>
              </a:rPr>
              <a:t>array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object</a:t>
            </a:r>
            <a:endParaRPr sz="14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665"/>
              </a:spcBef>
            </a:pPr>
            <a:r>
              <a:rPr sz="1100" spc="10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100" spc="114" dirty="0">
                <a:solidFill>
                  <a:srgbClr val="B31166"/>
                </a:solidFill>
                <a:latin typeface="Lucida Sans Unicode"/>
                <a:cs typeface="Lucida Sans Unicode"/>
              </a:rPr>
              <a:t>  </a:t>
            </a:r>
            <a:r>
              <a:rPr sz="1400" spc="-25" dirty="0">
                <a:solidFill>
                  <a:srgbClr val="404040"/>
                </a:solidFill>
                <a:latin typeface="Verdana"/>
                <a:cs typeface="Verdana"/>
              </a:rPr>
              <a:t>sophisticated</a:t>
            </a:r>
            <a:r>
              <a:rPr sz="1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(broadcasting)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functions</a:t>
            </a:r>
            <a:endParaRPr sz="14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670"/>
              </a:spcBef>
            </a:pPr>
            <a:r>
              <a:rPr sz="1100" spc="105" dirty="0">
                <a:solidFill>
                  <a:srgbClr val="B31166"/>
                </a:solidFill>
                <a:latin typeface="Lucida Sans Unicode"/>
                <a:cs typeface="Lucida Sans Unicode"/>
              </a:rPr>
              <a:t>▶  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tools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404040"/>
                </a:solidFill>
                <a:latin typeface="Verdana"/>
                <a:cs typeface="Verdana"/>
              </a:rPr>
              <a:t>integrating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C/C++</a:t>
            </a:r>
            <a:r>
              <a:rPr sz="1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404040"/>
                </a:solidFill>
                <a:latin typeface="Verdana"/>
                <a:cs typeface="Verdana"/>
              </a:rPr>
              <a:t>Fortran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80" dirty="0">
                <a:solidFill>
                  <a:srgbClr val="404040"/>
                </a:solidFill>
                <a:latin typeface="Verdana"/>
                <a:cs typeface="Verdana"/>
              </a:rPr>
              <a:t>code</a:t>
            </a:r>
            <a:endParaRPr sz="14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660"/>
              </a:spcBef>
            </a:pPr>
            <a:r>
              <a:rPr sz="1100" spc="105" dirty="0">
                <a:solidFill>
                  <a:srgbClr val="B31166"/>
                </a:solidFill>
                <a:latin typeface="Lucida Sans Unicode"/>
                <a:cs typeface="Lucida Sans Unicode"/>
              </a:rPr>
              <a:t>▶  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useful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404040"/>
                </a:solidFill>
                <a:latin typeface="Verdana"/>
                <a:cs typeface="Verdana"/>
              </a:rPr>
              <a:t>linear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algebra,</a:t>
            </a:r>
            <a:r>
              <a:rPr sz="1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Fourier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transform,</a:t>
            </a:r>
            <a:r>
              <a:rPr sz="1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random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404040"/>
                </a:solidFill>
                <a:latin typeface="Verdana"/>
                <a:cs typeface="Verdana"/>
              </a:rPr>
              <a:t>number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capabilities</a:t>
            </a:r>
            <a:endParaRPr sz="14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660"/>
              </a:spcBef>
            </a:pPr>
            <a:r>
              <a:rPr sz="1100" spc="105" dirty="0">
                <a:solidFill>
                  <a:srgbClr val="B31166"/>
                </a:solidFill>
                <a:latin typeface="Lucida Sans Unicode"/>
                <a:cs typeface="Lucida Sans Unicode"/>
                <a:hlinkClick r:id="rId2"/>
              </a:rPr>
              <a:t>▶</a:t>
            </a:r>
            <a:r>
              <a:rPr sz="1100" spc="470" dirty="0">
                <a:solidFill>
                  <a:srgbClr val="B31166"/>
                </a:solidFill>
                <a:latin typeface="Lucida Sans Unicode"/>
                <a:cs typeface="Lucida Sans Unicode"/>
                <a:hlinkClick r:id="rId2"/>
              </a:rPr>
              <a:t> </a:t>
            </a:r>
            <a:r>
              <a:rPr sz="1400" u="sng" spc="-10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/>
                <a:cs typeface="Verdana"/>
                <a:hlinkClick r:id="rId2"/>
              </a:rPr>
              <a:t>http://www.numpy.org/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solidFill>
                  <a:srgbClr val="FFFFFF"/>
                </a:solidFill>
              </a:rPr>
              <a:t>Course</a:t>
            </a:r>
            <a:r>
              <a:rPr spc="-215" dirty="0">
                <a:solidFill>
                  <a:srgbClr val="FFFFFF"/>
                </a:solidFill>
              </a:rPr>
              <a:t> </a:t>
            </a:r>
            <a:r>
              <a:rPr spc="-85" dirty="0">
                <a:solidFill>
                  <a:srgbClr val="FFFFFF"/>
                </a:solidFill>
              </a:rPr>
              <a:t>Website</a:t>
            </a:r>
            <a:r>
              <a:rPr spc="-215" dirty="0">
                <a:solidFill>
                  <a:srgbClr val="FFFFFF"/>
                </a:solidFill>
              </a:rPr>
              <a:t> </a:t>
            </a:r>
            <a:r>
              <a:rPr spc="130" dirty="0">
                <a:solidFill>
                  <a:srgbClr val="FFFFFF"/>
                </a:solidFill>
              </a:rPr>
              <a:t>and</a:t>
            </a:r>
            <a:r>
              <a:rPr spc="-21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Available</a:t>
            </a:r>
            <a:r>
              <a:rPr spc="-195" dirty="0">
                <a:solidFill>
                  <a:srgbClr val="FFFFFF"/>
                </a:solidFill>
              </a:rPr>
              <a:t> </a:t>
            </a:r>
            <a:r>
              <a:rPr spc="225" dirty="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3932" y="2631186"/>
            <a:ext cx="7476490" cy="1566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website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course: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u="sng" spc="-10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/>
                <a:cs typeface="Verdana"/>
                <a:hlinkClick r:id="rId2"/>
              </a:rPr>
              <a:t>http://aima.cs.berkeley.edu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730"/>
              </a:spcBef>
            </a:pP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Relevant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25" dirty="0">
                <a:solidFill>
                  <a:srgbClr val="404040"/>
                </a:solidFill>
                <a:latin typeface="Verdana"/>
                <a:cs typeface="Verdana"/>
              </a:rPr>
              <a:t>code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available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at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20" dirty="0">
                <a:solidFill>
                  <a:srgbClr val="404040"/>
                </a:solidFill>
                <a:latin typeface="Verdana"/>
                <a:cs typeface="Verdana"/>
              </a:rPr>
              <a:t>: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000" u="sng" spc="-10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/>
                <a:cs typeface="Verdana"/>
                <a:hlinkClick r:id="rId3"/>
              </a:rPr>
              <a:t>https://github.com/aimacode</a:t>
            </a:r>
            <a:endParaRPr sz="20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1000"/>
              </a:spcBef>
            </a:pPr>
            <a:r>
              <a:rPr sz="1800" spc="-55" dirty="0">
                <a:solidFill>
                  <a:srgbClr val="404040"/>
                </a:solidFill>
                <a:latin typeface="Verdana"/>
                <a:cs typeface="Verdana"/>
              </a:rPr>
              <a:t>support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for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multiple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404040"/>
                </a:solidFill>
                <a:latin typeface="Verdana"/>
                <a:cs typeface="Verdana"/>
              </a:rPr>
              <a:t>languages:</a:t>
            </a:r>
            <a:r>
              <a:rPr sz="18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python,</a:t>
            </a:r>
            <a:r>
              <a:rPr sz="18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java,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javascript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so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36703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>
                <a:solidFill>
                  <a:srgbClr val="FFFFFF"/>
                </a:solidFill>
              </a:rPr>
              <a:t>Advice</a:t>
            </a:r>
            <a:r>
              <a:rPr spc="-265" dirty="0">
                <a:solidFill>
                  <a:srgbClr val="FFFFFF"/>
                </a:solidFill>
              </a:rPr>
              <a:t> </a:t>
            </a:r>
            <a:r>
              <a:rPr spc="-155" dirty="0">
                <a:solidFill>
                  <a:srgbClr val="FFFFFF"/>
                </a:solidFill>
              </a:rPr>
              <a:t>for</a:t>
            </a:r>
            <a:r>
              <a:rPr spc="-245" dirty="0">
                <a:solidFill>
                  <a:srgbClr val="FFFFFF"/>
                </a:solidFill>
              </a:rPr>
              <a:t> </a:t>
            </a:r>
            <a:r>
              <a:rPr spc="-150" dirty="0">
                <a:solidFill>
                  <a:srgbClr val="FFFFFF"/>
                </a:solidFill>
              </a:rPr>
              <a:t>Study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3932" y="2631185"/>
            <a:ext cx="8519160" cy="269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When</a:t>
            </a:r>
            <a:r>
              <a:rPr sz="24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404040"/>
                </a:solidFill>
                <a:latin typeface="Verdana"/>
                <a:cs typeface="Verdana"/>
              </a:rPr>
              <a:t>need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to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Verdana"/>
                <a:cs typeface="Verdana"/>
              </a:rPr>
              <a:t>understand</a:t>
            </a:r>
            <a:r>
              <a:rPr sz="2400" spc="-1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knowledge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404040"/>
                </a:solidFill>
                <a:latin typeface="Verdana"/>
                <a:cs typeface="Verdana"/>
              </a:rPr>
              <a:t>points</a:t>
            </a:r>
            <a:r>
              <a:rPr sz="2400" spc="-1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in the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book,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14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run </a:t>
            </a:r>
            <a:r>
              <a:rPr sz="2400" spc="-3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400" spc="-1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404040"/>
                </a:solidFill>
                <a:latin typeface="Verdana"/>
                <a:cs typeface="Verdana"/>
              </a:rPr>
              <a:t>demo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85" dirty="0">
                <a:solidFill>
                  <a:srgbClr val="404040"/>
                </a:solidFill>
                <a:latin typeface="Verdana"/>
                <a:cs typeface="Verdana"/>
              </a:rPr>
              <a:t>and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read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some related</a:t>
            </a:r>
            <a:r>
              <a:rPr sz="2400" spc="-1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80" dirty="0">
                <a:solidFill>
                  <a:srgbClr val="404040"/>
                </a:solidFill>
                <a:latin typeface="Verdana"/>
                <a:cs typeface="Verdana"/>
              </a:rPr>
              <a:t>code.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900" spc="114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2400" spc="-170" dirty="0">
                <a:solidFill>
                  <a:srgbClr val="404040"/>
                </a:solidFill>
                <a:latin typeface="Verdana"/>
                <a:cs typeface="Verdana"/>
              </a:rPr>
              <a:t>Seriously </a:t>
            </a:r>
            <a:r>
              <a:rPr sz="2400" spc="114" dirty="0">
                <a:solidFill>
                  <a:srgbClr val="404040"/>
                </a:solidFill>
                <a:latin typeface="Verdana"/>
                <a:cs typeface="Verdana"/>
              </a:rPr>
              <a:t>do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404040"/>
                </a:solidFill>
                <a:latin typeface="Verdana"/>
                <a:cs typeface="Verdana"/>
              </a:rPr>
              <a:t>every</a:t>
            </a:r>
            <a:r>
              <a:rPr sz="2400" spc="-1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Verdana"/>
                <a:cs typeface="Verdana"/>
              </a:rPr>
              <a:t>project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2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2400" spc="-1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24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404040"/>
                </a:solidFill>
                <a:latin typeface="Verdana"/>
                <a:cs typeface="Verdana"/>
              </a:rPr>
              <a:t>computer</a:t>
            </a:r>
            <a:r>
              <a:rPr sz="2400" spc="-1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Verdana"/>
                <a:cs typeface="Verdana"/>
              </a:rPr>
              <a:t>class</a:t>
            </a:r>
            <a:endParaRPr sz="2400">
              <a:latin typeface="Verdana"/>
              <a:cs typeface="Verdana"/>
            </a:endParaRPr>
          </a:p>
          <a:p>
            <a:pPr marL="756285" marR="274955" indent="-287020">
              <a:lnSpc>
                <a:spcPct val="100000"/>
              </a:lnSpc>
              <a:spcBef>
                <a:spcPts val="1025"/>
              </a:spcBef>
            </a:pPr>
            <a:r>
              <a:rPr sz="1450" spc="114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spc="45" dirty="0">
                <a:solidFill>
                  <a:srgbClr val="B31166"/>
                </a:solidFill>
                <a:latin typeface="Lucida Sans Unicode"/>
                <a:cs typeface="Lucida Sans Unicode"/>
              </a:rPr>
              <a:t>  </a:t>
            </a:r>
            <a:r>
              <a:rPr sz="1800" spc="-200" dirty="0">
                <a:solidFill>
                  <a:srgbClr val="404040"/>
                </a:solidFill>
                <a:latin typeface="Verdana"/>
                <a:cs typeface="Verdana"/>
              </a:rPr>
              <a:t>Ps: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lab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topics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computer</a:t>
            </a:r>
            <a:r>
              <a:rPr sz="18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class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are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topics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8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current 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frontiers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8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Verdana"/>
                <a:cs typeface="Verdana"/>
              </a:rPr>
              <a:t>artificial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404040"/>
                </a:solidFill>
                <a:latin typeface="Verdana"/>
                <a:cs typeface="Verdana"/>
              </a:rPr>
              <a:t>intelligence.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36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hope</a:t>
            </a:r>
            <a:r>
              <a:rPr sz="18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Verdana"/>
                <a:cs typeface="Verdana"/>
              </a:rPr>
              <a:t>everyone</a:t>
            </a:r>
            <a:r>
              <a:rPr sz="18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think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deeply.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51263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Quick</a:t>
            </a:r>
            <a:r>
              <a:rPr spc="-235" dirty="0"/>
              <a:t> </a:t>
            </a:r>
            <a:r>
              <a:rPr spc="-254" dirty="0"/>
              <a:t>Start</a:t>
            </a:r>
            <a:r>
              <a:rPr spc="-220" dirty="0"/>
              <a:t> </a:t>
            </a:r>
            <a:r>
              <a:rPr spc="-140" dirty="0"/>
              <a:t>with</a:t>
            </a:r>
            <a:r>
              <a:rPr spc="-240" dirty="0"/>
              <a:t> </a:t>
            </a:r>
            <a:r>
              <a:rPr spc="-40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3932" y="2888427"/>
            <a:ext cx="7926070" cy="2810128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1800" spc="-14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404040"/>
                </a:solidFill>
                <a:latin typeface="Verdana"/>
                <a:cs typeface="Verdana"/>
              </a:rPr>
              <a:t>can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install</a:t>
            </a:r>
            <a:r>
              <a:rPr sz="1800" spc="-1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404040"/>
                </a:solidFill>
                <a:latin typeface="Verdana"/>
                <a:cs typeface="Verdana"/>
              </a:rPr>
              <a:t>with</a:t>
            </a:r>
            <a:r>
              <a:rPr sz="18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404040"/>
                </a:solidFill>
                <a:latin typeface="Verdana"/>
                <a:cs typeface="Verdana"/>
              </a:rPr>
              <a:t>anaconda</a:t>
            </a:r>
            <a:r>
              <a:rPr sz="18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404040"/>
                </a:solidFill>
                <a:latin typeface="Verdana"/>
                <a:cs typeface="Verdana"/>
              </a:rPr>
              <a:t>which</a:t>
            </a:r>
            <a:r>
              <a:rPr sz="18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800" spc="-1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80" dirty="0">
                <a:solidFill>
                  <a:srgbClr val="404040"/>
                </a:solidFill>
                <a:latin typeface="Verdana"/>
                <a:cs typeface="Verdana"/>
              </a:rPr>
              <a:t>package</a:t>
            </a:r>
            <a:r>
              <a:rPr sz="1800" spc="-13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manager</a:t>
            </a:r>
            <a:endParaRPr sz="1800" dirty="0">
              <a:latin typeface="Verdana"/>
              <a:cs typeface="Verdana"/>
            </a:endParaRPr>
          </a:p>
          <a:p>
            <a:pPr marL="178435">
              <a:lnSpc>
                <a:spcPct val="100000"/>
              </a:lnSpc>
              <a:spcBef>
                <a:spcPts val="1005"/>
              </a:spcBef>
            </a:pPr>
            <a:r>
              <a:rPr sz="1600" u="sng" spc="-10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/>
                <a:cs typeface="Verdana"/>
                <a:hlinkClick r:id="rId2"/>
              </a:rPr>
              <a:t>https://www.anaconda.com/download/</a:t>
            </a:r>
            <a:endParaRPr lang="en-US" sz="1600" u="sng" spc="-10" dirty="0">
              <a:solidFill>
                <a:srgbClr val="8F8F8F"/>
              </a:solidFill>
              <a:uFill>
                <a:solidFill>
                  <a:srgbClr val="8F8F8F"/>
                </a:solidFill>
              </a:uFill>
              <a:latin typeface="Verdana"/>
              <a:cs typeface="Verdana"/>
            </a:endParaRPr>
          </a:p>
          <a:p>
            <a:pPr marL="178435">
              <a:lnSpc>
                <a:spcPct val="100000"/>
              </a:lnSpc>
              <a:spcBef>
                <a:spcPts val="1005"/>
              </a:spcBef>
            </a:pPr>
            <a:endParaRPr sz="1600" dirty="0">
              <a:latin typeface="Verdana"/>
              <a:cs typeface="Verdana"/>
            </a:endParaRPr>
          </a:p>
          <a:p>
            <a:pPr marL="76200" marR="431800" indent="-64135">
              <a:lnSpc>
                <a:spcPts val="3160"/>
              </a:lnSpc>
              <a:spcBef>
                <a:spcPts val="27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800" spc="-45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r>
              <a:rPr sz="18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404040"/>
                </a:solidFill>
                <a:latin typeface="Verdana"/>
                <a:cs typeface="Verdana"/>
              </a:rPr>
              <a:t>IDE:</a:t>
            </a:r>
            <a:r>
              <a:rPr sz="1800" spc="5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Verdana"/>
                <a:cs typeface="Verdana"/>
              </a:rPr>
              <a:t>PyCharm </a:t>
            </a:r>
            <a:r>
              <a:rPr sz="1800" u="sng" spc="-35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/>
                <a:cs typeface="Verdana"/>
                <a:hlinkClick r:id="rId3"/>
              </a:rPr>
              <a:t>https://www.jetbrains.com/pycharm/download/?section=windows</a:t>
            </a:r>
            <a:endParaRPr sz="1800" dirty="0">
              <a:latin typeface="Verdana"/>
              <a:cs typeface="Verdana"/>
            </a:endParaRPr>
          </a:p>
          <a:p>
            <a:pPr marL="203200" marR="715645" indent="-64135">
              <a:lnSpc>
                <a:spcPts val="3160"/>
              </a:lnSpc>
            </a:pPr>
            <a:r>
              <a:rPr sz="1800" spc="-25" dirty="0">
                <a:solidFill>
                  <a:srgbClr val="404040"/>
                </a:solidFill>
                <a:latin typeface="Verdana"/>
                <a:cs typeface="Verdana"/>
              </a:rPr>
              <a:t>or </a:t>
            </a:r>
            <a:r>
              <a:rPr sz="1800" u="sng" spc="-35" dirty="0">
                <a:solidFill>
                  <a:srgbClr val="8F8F8F"/>
                </a:solidFill>
                <a:uFill>
                  <a:solidFill>
                    <a:srgbClr val="8F8F8F"/>
                  </a:solidFill>
                </a:uFill>
                <a:latin typeface="Verdana"/>
                <a:cs typeface="Verdana"/>
                <a:hlinkClick r:id="rId4"/>
              </a:rPr>
              <a:t>https://www.jetbrains.com/pycharm/download/#section=mac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33932" y="1029411"/>
            <a:ext cx="51263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Quick</a:t>
            </a:r>
            <a:r>
              <a:rPr spc="-235" dirty="0"/>
              <a:t> </a:t>
            </a:r>
            <a:r>
              <a:rPr spc="-254" dirty="0"/>
              <a:t>Start</a:t>
            </a:r>
            <a:r>
              <a:rPr spc="-220" dirty="0"/>
              <a:t> </a:t>
            </a:r>
            <a:r>
              <a:rPr spc="-140" dirty="0"/>
              <a:t>with</a:t>
            </a:r>
            <a:r>
              <a:rPr spc="-240" dirty="0"/>
              <a:t> </a:t>
            </a:r>
            <a:r>
              <a:rPr spc="-40" dirty="0"/>
              <a:t>Python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154954" y="2603500"/>
            <a:ext cx="8825659" cy="1849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  <a:tab pos="6012815" algn="l"/>
              </a:tabLst>
            </a:pPr>
            <a:r>
              <a:rPr spc="-35" dirty="0">
                <a:hlinkClick r:id="rId2"/>
              </a:rPr>
              <a:t>https://learnxinyminutes.com/docs/python3/</a:t>
            </a:r>
            <a:r>
              <a:rPr lang="zh-CN" altLang="en-US" spc="-35" dirty="0"/>
              <a:t>  </a:t>
            </a:r>
            <a:r>
              <a:rPr u="none" spc="-85" dirty="0">
                <a:solidFill>
                  <a:srgbClr val="000000"/>
                </a:solidFill>
              </a:rPr>
              <a:t>or</a:t>
            </a:r>
            <a:r>
              <a:rPr u="none" spc="-155" dirty="0">
                <a:solidFill>
                  <a:srgbClr val="000000"/>
                </a:solidFill>
              </a:rPr>
              <a:t> </a:t>
            </a:r>
            <a:r>
              <a:rPr u="none" spc="-30" dirty="0">
                <a:solidFill>
                  <a:srgbClr val="404040"/>
                </a:solidFill>
              </a:rPr>
              <a:t>learnpython.py</a:t>
            </a:r>
            <a:endParaRPr sz="16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6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u="none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u="none" spc="-10" dirty="0">
                <a:solidFill>
                  <a:srgbClr val="404040"/>
                </a:solidFill>
              </a:rPr>
              <a:t>learnnumpy.ipynb</a:t>
            </a:r>
            <a:endParaRPr sz="160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6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600" u="none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u="none" spc="-50" dirty="0">
                <a:solidFill>
                  <a:srgbClr val="404040"/>
                </a:solidFill>
              </a:rPr>
              <a:t>Python</a:t>
            </a:r>
            <a:r>
              <a:rPr u="none" spc="-130" dirty="0">
                <a:solidFill>
                  <a:srgbClr val="404040"/>
                </a:solidFill>
              </a:rPr>
              <a:t> </a:t>
            </a:r>
            <a:r>
              <a:rPr u="none" spc="-10" dirty="0">
                <a:solidFill>
                  <a:srgbClr val="404040"/>
                </a:solidFill>
              </a:rPr>
              <a:t>Q&amp;A.pdf</a:t>
            </a:r>
            <a:endParaRPr sz="16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Python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Concept</a:t>
            </a:r>
            <a:endParaRPr kumimoji="1" lang="en-US" altLang="zh-CN" dirty="0">
              <a:latin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0" y="2743200"/>
            <a:ext cx="3629297" cy="5230412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Exceptions</a:t>
            </a:r>
          </a:p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Funcion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78736EF-2E96-48B2-0DC7-C7637146F77E}"/>
              </a:ext>
            </a:extLst>
          </p:cNvPr>
          <p:cNvSpPr txBox="1">
            <a:spLocks/>
          </p:cNvSpPr>
          <p:nvPr/>
        </p:nvSpPr>
        <p:spPr>
          <a:xfrm>
            <a:off x="6858000" y="2971800"/>
            <a:ext cx="3629297" cy="5230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Pandas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Class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Matplotlib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Data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Visualization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Statistic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Practice1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3932" y="2286000"/>
            <a:ext cx="2818765" cy="89090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  <a:tabLst>
                <a:tab pos="354965" algn="l"/>
              </a:tabLst>
            </a:pPr>
            <a:r>
              <a:rPr sz="1100" spc="5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110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400" spc="-125" dirty="0">
                <a:solidFill>
                  <a:srgbClr val="404040"/>
                </a:solidFill>
                <a:latin typeface="Verdana"/>
                <a:cs typeface="Verdana"/>
              </a:rPr>
              <a:t>2</a:t>
            </a:r>
            <a:r>
              <a:rPr sz="1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Parts:</a:t>
            </a:r>
            <a:endParaRPr sz="14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715"/>
              </a:spcBef>
              <a:tabLst>
                <a:tab pos="756285" algn="l"/>
              </a:tabLst>
            </a:pPr>
            <a:r>
              <a:rPr sz="950" spc="40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9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200" spc="-30" dirty="0">
                <a:solidFill>
                  <a:srgbClr val="404040"/>
                </a:solidFill>
                <a:latin typeface="Verdana"/>
                <a:cs typeface="Verdana"/>
              </a:rPr>
              <a:t>Python</a:t>
            </a:r>
            <a:r>
              <a:rPr sz="12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04040"/>
                </a:solidFill>
                <a:latin typeface="Verdana"/>
                <a:cs typeface="Verdana"/>
              </a:rPr>
              <a:t>practice</a:t>
            </a:r>
            <a:r>
              <a:rPr sz="1200" spc="-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20" dirty="0">
                <a:solidFill>
                  <a:srgbClr val="404040"/>
                </a:solidFill>
                <a:latin typeface="Verdana"/>
                <a:cs typeface="Verdana"/>
              </a:rPr>
              <a:t>(0.5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 points)</a:t>
            </a:r>
            <a:endParaRPr sz="1200" dirty="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  <a:tabLst>
                <a:tab pos="756285" algn="l"/>
              </a:tabLst>
            </a:pPr>
            <a:r>
              <a:rPr sz="950" spc="40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r>
              <a:rPr sz="950" dirty="0">
                <a:solidFill>
                  <a:srgbClr val="B31166"/>
                </a:solidFill>
                <a:latin typeface="Lucida Sans Unicode"/>
                <a:cs typeface="Lucida Sans Unicode"/>
              </a:rPr>
              <a:t>	</a:t>
            </a:r>
            <a:r>
              <a:rPr sz="1200" spc="-25" dirty="0">
                <a:solidFill>
                  <a:srgbClr val="404040"/>
                </a:solidFill>
                <a:latin typeface="Verdana"/>
                <a:cs typeface="Verdana"/>
              </a:rPr>
              <a:t>Numpy</a:t>
            </a:r>
            <a:r>
              <a:rPr sz="12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04040"/>
                </a:solidFill>
                <a:latin typeface="Verdana"/>
                <a:cs typeface="Verdana"/>
              </a:rPr>
              <a:t>practice</a:t>
            </a:r>
            <a:r>
              <a:rPr sz="1200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20" dirty="0">
                <a:solidFill>
                  <a:srgbClr val="404040"/>
                </a:solidFill>
                <a:latin typeface="Verdana"/>
                <a:cs typeface="Verdana"/>
              </a:rPr>
              <a:t>(0.5</a:t>
            </a:r>
            <a:r>
              <a:rPr sz="12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04040"/>
                </a:solidFill>
                <a:latin typeface="Verdana"/>
                <a:cs typeface="Verdana"/>
              </a:rPr>
              <a:t>points)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932" y="3276446"/>
            <a:ext cx="15049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55" dirty="0">
                <a:solidFill>
                  <a:srgbClr val="B31166"/>
                </a:solidFill>
                <a:latin typeface="Lucida Sans Unicode"/>
                <a:cs typeface="Lucida Sans Unicode"/>
              </a:rPr>
              <a:t>▶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9277" y="3256126"/>
            <a:ext cx="922019" cy="200696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400" spc="-125" dirty="0">
                <a:solidFill>
                  <a:srgbClr val="404040"/>
                </a:solidFill>
                <a:latin typeface="Verdana"/>
                <a:cs typeface="Verdana"/>
              </a:rPr>
              <a:t>DDL: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en-US" altLang="zh-CN" sz="1400" spc="-10" dirty="0">
                <a:solidFill>
                  <a:srgbClr val="404040"/>
                </a:solidFill>
                <a:latin typeface="Verdana"/>
                <a:cs typeface="Verdana"/>
              </a:rPr>
              <a:t>3.4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3932" y="3452315"/>
            <a:ext cx="8719820" cy="2764859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8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practice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404040"/>
                </a:solidFill>
                <a:latin typeface="Verdana"/>
                <a:cs typeface="Verdana"/>
              </a:rPr>
              <a:t>will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65" dirty="0">
                <a:solidFill>
                  <a:srgbClr val="404040"/>
                </a:solidFill>
                <a:latin typeface="Verdana"/>
                <a:cs typeface="Verdana"/>
              </a:rPr>
              <a:t>be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60" dirty="0">
                <a:solidFill>
                  <a:srgbClr val="404040"/>
                </a:solidFill>
                <a:latin typeface="Verdana"/>
                <a:cs typeface="Verdana"/>
              </a:rPr>
              <a:t>checked</a:t>
            </a:r>
            <a:r>
              <a:rPr sz="1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in </a:t>
            </a:r>
            <a:r>
              <a:rPr sz="1400" spc="-114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lab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404040"/>
                </a:solidFill>
                <a:latin typeface="Verdana"/>
                <a:cs typeface="Verdana"/>
              </a:rPr>
              <a:t>class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next</a:t>
            </a:r>
            <a:r>
              <a:rPr sz="1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lab</a:t>
            </a:r>
            <a:r>
              <a:rPr sz="1400" spc="-6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Verdana"/>
                <a:cs typeface="Verdana"/>
              </a:rPr>
              <a:t>classes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(before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lang="en-US" altLang="zh-CN" sz="1400" b="1" spc="-45" dirty="0">
                <a:solidFill>
                  <a:srgbClr val="404040"/>
                </a:solidFill>
                <a:latin typeface="Tahoma"/>
                <a:cs typeface="Tahoma"/>
              </a:rPr>
              <a:t>3.4</a:t>
            </a:r>
            <a:r>
              <a:rPr sz="1400" spc="-45" dirty="0">
                <a:solidFill>
                  <a:srgbClr val="404040"/>
                </a:solidFill>
                <a:latin typeface="Verdana"/>
                <a:cs typeface="Verdana"/>
              </a:rPr>
              <a:t>)</a:t>
            </a:r>
            <a:r>
              <a:rPr sz="1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by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teachers</a:t>
            </a:r>
            <a:r>
              <a:rPr sz="1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SAs.</a:t>
            </a:r>
            <a:endParaRPr sz="1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b="1" spc="-85" dirty="0">
                <a:solidFill>
                  <a:srgbClr val="404040"/>
                </a:solidFill>
                <a:latin typeface="Tahoma"/>
                <a:cs typeface="Tahoma"/>
              </a:rPr>
              <a:t>What</a:t>
            </a:r>
            <a:r>
              <a:rPr sz="1400" b="1" spc="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400" b="1" spc="-110" dirty="0">
                <a:solidFill>
                  <a:srgbClr val="404040"/>
                </a:solidFill>
                <a:latin typeface="Tahoma"/>
                <a:cs typeface="Tahoma"/>
              </a:rPr>
              <a:t>will</a:t>
            </a:r>
            <a:r>
              <a:rPr sz="1400" b="1" spc="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404040"/>
                </a:solidFill>
                <a:latin typeface="Tahoma"/>
                <a:cs typeface="Tahoma"/>
              </a:rPr>
              <a:t>be</a:t>
            </a:r>
            <a:r>
              <a:rPr sz="1400" b="1" spc="2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404040"/>
                </a:solidFill>
                <a:latin typeface="Tahoma"/>
                <a:cs typeface="Tahoma"/>
              </a:rPr>
              <a:t>tested:</a:t>
            </a:r>
            <a:endParaRPr sz="14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Clr>
                <a:srgbClr val="B31166"/>
              </a:buClr>
              <a:buSzPct val="78571"/>
              <a:buFont typeface="Wingdings"/>
              <a:buChar char=""/>
              <a:tabLst>
                <a:tab pos="354965" algn="l"/>
              </a:tabLst>
            </a:pP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sz="1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you</a:t>
            </a:r>
            <a:r>
              <a:rPr sz="1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404040"/>
                </a:solidFill>
                <a:latin typeface="Verdana"/>
                <a:cs typeface="Verdana"/>
              </a:rPr>
              <a:t>understand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404040"/>
                </a:solidFill>
                <a:latin typeface="Verdana"/>
                <a:cs typeface="Verdana"/>
              </a:rPr>
              <a:t>every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Verdana"/>
                <a:cs typeface="Verdana"/>
              </a:rPr>
              <a:t>line</a:t>
            </a:r>
            <a:r>
              <a:rPr sz="1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sz="1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50" dirty="0">
                <a:solidFill>
                  <a:srgbClr val="404040"/>
                </a:solidFill>
                <a:latin typeface="Verdana"/>
                <a:cs typeface="Verdana"/>
              </a:rPr>
              <a:t>code,</a:t>
            </a:r>
            <a:r>
              <a:rPr sz="1400" spc="-114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Verdana"/>
                <a:cs typeface="Verdana"/>
              </a:rPr>
              <a:t>not</a:t>
            </a:r>
            <a:r>
              <a:rPr sz="1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35" dirty="0">
                <a:solidFill>
                  <a:srgbClr val="404040"/>
                </a:solidFill>
                <a:latin typeface="Verdana"/>
                <a:cs typeface="Verdana"/>
              </a:rPr>
              <a:t>just</a:t>
            </a:r>
            <a:r>
              <a:rPr sz="1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60" dirty="0">
                <a:solidFill>
                  <a:srgbClr val="404040"/>
                </a:solidFill>
                <a:latin typeface="Verdana"/>
                <a:cs typeface="Verdana"/>
              </a:rPr>
              <a:t>copy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from</a:t>
            </a:r>
            <a:r>
              <a:rPr sz="1400" spc="-13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somewhere</a:t>
            </a:r>
            <a:endParaRPr sz="14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730"/>
              </a:spcBef>
              <a:buClr>
                <a:srgbClr val="B31166"/>
              </a:buClr>
              <a:buSzPct val="78571"/>
              <a:buFont typeface="Wingdings"/>
              <a:buChar char=""/>
              <a:tabLst>
                <a:tab pos="354965" algn="l"/>
              </a:tabLst>
            </a:pPr>
            <a:r>
              <a:rPr sz="1400" spc="-65" dirty="0">
                <a:solidFill>
                  <a:srgbClr val="404040"/>
                </a:solidFill>
                <a:latin typeface="Verdana"/>
                <a:cs typeface="Verdana"/>
              </a:rPr>
              <a:t>That</a:t>
            </a:r>
            <a:r>
              <a:rPr sz="1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404040"/>
                </a:solidFill>
                <a:latin typeface="Verdana"/>
                <a:cs typeface="Verdana"/>
              </a:rPr>
              <a:t>your</a:t>
            </a:r>
            <a:r>
              <a:rPr sz="1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program</a:t>
            </a:r>
            <a:r>
              <a:rPr sz="1400" spc="-10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compiles</a:t>
            </a:r>
            <a:r>
              <a:rPr sz="1400" spc="-1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correctly</a:t>
            </a:r>
            <a:endParaRPr sz="14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745"/>
              </a:spcBef>
              <a:buClr>
                <a:srgbClr val="B31166"/>
              </a:buClr>
              <a:buSzPct val="78571"/>
              <a:buFont typeface="Wingdings"/>
              <a:buChar char=""/>
              <a:tabLst>
                <a:tab pos="354965" algn="l"/>
              </a:tabLst>
            </a:pPr>
            <a:r>
              <a:rPr sz="1400" spc="-35" dirty="0">
                <a:solidFill>
                  <a:srgbClr val="404040"/>
                </a:solidFill>
                <a:latin typeface="Verdana"/>
                <a:cs typeface="Verdana"/>
              </a:rPr>
              <a:t>Correctness</a:t>
            </a:r>
            <a:r>
              <a:rPr sz="1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of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program</a:t>
            </a:r>
            <a:r>
              <a:rPr sz="1400" spc="-9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logic</a:t>
            </a:r>
            <a:endParaRPr sz="14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Clr>
                <a:srgbClr val="B31166"/>
              </a:buClr>
              <a:buSzPct val="78571"/>
              <a:buFont typeface="Wingdings"/>
              <a:buChar char=""/>
              <a:tabLst>
                <a:tab pos="354965" algn="l"/>
              </a:tabLst>
            </a:pPr>
            <a:r>
              <a:rPr sz="1400" spc="-65" dirty="0">
                <a:solidFill>
                  <a:srgbClr val="404040"/>
                </a:solidFill>
                <a:latin typeface="Verdana"/>
                <a:cs typeface="Verdana"/>
              </a:rPr>
              <a:t>That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the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0" dirty="0">
                <a:solidFill>
                  <a:srgbClr val="404040"/>
                </a:solidFill>
                <a:latin typeface="Verdana"/>
                <a:cs typeface="Verdana"/>
              </a:rPr>
              <a:t>result</a:t>
            </a:r>
            <a:r>
              <a:rPr sz="1400" spc="-8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4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obtained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114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400" spc="-5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reasonable</a:t>
            </a:r>
            <a:r>
              <a:rPr sz="1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Verdana"/>
                <a:cs typeface="Verdana"/>
              </a:rPr>
              <a:t>time</a:t>
            </a:r>
            <a:endParaRPr sz="1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400" b="1" spc="-10" dirty="0">
                <a:solidFill>
                  <a:srgbClr val="404040"/>
                </a:solidFill>
                <a:latin typeface="Tahoma"/>
                <a:cs typeface="Tahoma"/>
              </a:rPr>
              <a:t>Grading:</a:t>
            </a:r>
            <a:endParaRPr sz="14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745"/>
              </a:spcBef>
              <a:buClr>
                <a:srgbClr val="B31166"/>
              </a:buClr>
              <a:buSzPct val="78571"/>
              <a:buFont typeface="Wingdings"/>
              <a:buChar char=""/>
              <a:tabLst>
                <a:tab pos="354965" algn="l"/>
              </a:tabLst>
            </a:pPr>
            <a:r>
              <a:rPr sz="1400" spc="-105" dirty="0">
                <a:solidFill>
                  <a:srgbClr val="404040"/>
                </a:solidFill>
                <a:latin typeface="Verdana"/>
                <a:cs typeface="Verdana"/>
              </a:rPr>
              <a:t>Submissions</a:t>
            </a:r>
            <a:r>
              <a:rPr sz="1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404040"/>
                </a:solidFill>
                <a:latin typeface="Verdana"/>
                <a:cs typeface="Verdana"/>
              </a:rPr>
              <a:t>in</a:t>
            </a:r>
            <a:r>
              <a:rPr sz="1400" spc="-9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10" dirty="0">
                <a:solidFill>
                  <a:srgbClr val="404040"/>
                </a:solidFill>
                <a:latin typeface="Verdana"/>
                <a:cs typeface="Verdana"/>
              </a:rPr>
              <a:t>this</a:t>
            </a:r>
            <a:r>
              <a:rPr sz="1400" spc="-7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lab</a:t>
            </a:r>
            <a:r>
              <a:rPr sz="1400" spc="-1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class:</a:t>
            </a:r>
            <a:r>
              <a:rPr sz="1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25" dirty="0">
                <a:solidFill>
                  <a:srgbClr val="404040"/>
                </a:solidFill>
                <a:latin typeface="Verdana"/>
                <a:cs typeface="Verdana"/>
              </a:rPr>
              <a:t>1.1</a:t>
            </a:r>
            <a:r>
              <a:rPr sz="1400" spc="-4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points.</a:t>
            </a:r>
            <a:endParaRPr sz="14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735"/>
              </a:spcBef>
              <a:buClr>
                <a:srgbClr val="B31166"/>
              </a:buClr>
              <a:buSzPct val="78571"/>
              <a:buFont typeface="Wingdings"/>
              <a:buChar char=""/>
              <a:tabLst>
                <a:tab pos="354965" algn="l"/>
              </a:tabLst>
            </a:pPr>
            <a:r>
              <a:rPr sz="1400" spc="-105" dirty="0">
                <a:solidFill>
                  <a:srgbClr val="404040"/>
                </a:solidFill>
                <a:latin typeface="Verdana"/>
                <a:cs typeface="Verdana"/>
              </a:rPr>
              <a:t>Submissions</a:t>
            </a:r>
            <a:r>
              <a:rPr sz="1400" spc="-1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404040"/>
                </a:solidFill>
                <a:latin typeface="Verdana"/>
                <a:cs typeface="Verdana"/>
              </a:rPr>
              <a:t>on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90" dirty="0">
                <a:solidFill>
                  <a:srgbClr val="404040"/>
                </a:solidFill>
                <a:latin typeface="Verdana"/>
                <a:cs typeface="Verdana"/>
              </a:rPr>
              <a:t>time:</a:t>
            </a:r>
            <a:r>
              <a:rPr sz="1400" spc="-8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25" dirty="0">
                <a:solidFill>
                  <a:srgbClr val="404040"/>
                </a:solidFill>
                <a:latin typeface="Verdana"/>
                <a:cs typeface="Verdana"/>
              </a:rPr>
              <a:t>1</a:t>
            </a:r>
            <a:r>
              <a:rPr sz="1400" spc="-6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Verdana"/>
                <a:cs typeface="Verdana"/>
              </a:rPr>
              <a:t>point</a:t>
            </a:r>
            <a:r>
              <a:rPr lang="en-US" altLang="zh-CN" sz="1400" spc="-10" dirty="0">
                <a:solidFill>
                  <a:srgbClr val="404040"/>
                </a:solidFill>
                <a:latin typeface="Verdana"/>
                <a:cs typeface="Verdana"/>
              </a:rPr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126</TotalTime>
  <Words>1080</Words>
  <Application>Microsoft Macintosh PowerPoint</Application>
  <PresentationFormat>宽屏</PresentationFormat>
  <Paragraphs>128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等线</vt:lpstr>
      <vt:lpstr>SimSun</vt:lpstr>
      <vt:lpstr>微软雅黑</vt:lpstr>
      <vt:lpstr>Apple Braille</vt:lpstr>
      <vt:lpstr>Arial</vt:lpstr>
      <vt:lpstr>Arial Hebrew</vt:lpstr>
      <vt:lpstr>Century Gothic</vt:lpstr>
      <vt:lpstr>Lucida Sans Unicode</vt:lpstr>
      <vt:lpstr>Tahoma</vt:lpstr>
      <vt:lpstr>Times New Roman</vt:lpstr>
      <vt:lpstr>Verdana</vt:lpstr>
      <vt:lpstr>Wingdings</vt:lpstr>
      <vt:lpstr>Wingdings 3</vt:lpstr>
      <vt:lpstr>离子会议室</vt:lpstr>
      <vt:lpstr>CS311H Artificial Intelligence  LAB 1 - Instruction</vt:lpstr>
      <vt:lpstr>TA</vt:lpstr>
      <vt:lpstr>Outline</vt:lpstr>
      <vt:lpstr>Project Information</vt:lpstr>
      <vt:lpstr>Course Requirements</vt:lpstr>
      <vt:lpstr>Plagiarism Policy</vt:lpstr>
      <vt:lpstr>Plagiarism Policy</vt:lpstr>
      <vt:lpstr>What is OK, and what isn't OK?</vt:lpstr>
      <vt:lpstr>No excuse will be accepted once plagiarism is discovered!</vt:lpstr>
      <vt:lpstr>Please submit Assignment 0 (Assignment</vt:lpstr>
      <vt:lpstr>Course Arrangement</vt:lpstr>
      <vt:lpstr>Programming Language</vt:lpstr>
      <vt:lpstr>Course Website and Available Code</vt:lpstr>
      <vt:lpstr>Advice for Study</vt:lpstr>
      <vt:lpstr>Quick Start with Python</vt:lpstr>
      <vt:lpstr>Quick Start with Python</vt:lpstr>
      <vt:lpstr>Basic Python Concept</vt:lpstr>
      <vt:lpstr>Practice1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</dc:title>
  <dc:creator>yezi</dc:creator>
  <cp:lastModifiedBy>wei jiang</cp:lastModifiedBy>
  <cp:revision>14</cp:revision>
  <dcterms:created xsi:type="dcterms:W3CDTF">2026-02-24T11:26:00Z</dcterms:created>
  <dcterms:modified xsi:type="dcterms:W3CDTF">2026-02-25T05:56:30Z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2026-02-24T00:00:00Z</vt:filetime>
  </property>
  <property fmtid="{D5CDD505-2E9C-101B-9397-08002B2CF9AE}" pid="5" name="Producer">
    <vt:lpwstr>Microsoft® PowerPoint® 2016</vt:lpwstr>
  </property>
</Properties>
</file>